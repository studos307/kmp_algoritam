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4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5" r:id="rId9"/>
    <p:sldId id="266" r:id="rId10"/>
    <p:sldId id="271" r:id="rId11"/>
    <p:sldId id="272" r:id="rId12"/>
    <p:sldId id="273" r:id="rId13"/>
    <p:sldId id="275" r:id="rId14"/>
    <p:sldId id="276" r:id="rId15"/>
    <p:sldId id="278" r:id="rId16"/>
    <p:sldId id="279" r:id="rId17"/>
    <p:sldId id="280" r:id="rId18"/>
    <p:sldId id="281" r:id="rId19"/>
    <p:sldId id="277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rednji stil 2 - Isticanj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ivant\OneDrive\Radna%20povr&#353;ina\FAKS%20-%20DIPL\OAA%20PROJEKT\Mjerenja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ivant\OneDrive\Radna%20povr&#353;ina\FAKS%20-%20DIPL\OAA%20PROJEKT\Mjerenja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ivant\OneDrive\Radna%20povr&#353;ina\FAKS%20-%20DIPL\OAA%20PROJEKT\Mjerenja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hr-H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6036218171778929"/>
          <c:y val="9.3131548311990692E-2"/>
          <c:w val="0.81207732525034082"/>
          <c:h val="0.80094139862319302"/>
        </c:manualLayout>
      </c:layout>
      <c:lineChart>
        <c:grouping val="standard"/>
        <c:varyColors val="0"/>
        <c:ser>
          <c:idx val="0"/>
          <c:order val="0"/>
          <c:spPr>
            <a:ln w="28575" cap="rnd">
              <a:solidFill>
                <a:srgbClr val="00B0F0"/>
              </a:solidFill>
              <a:round/>
            </a:ln>
            <a:effectLst/>
          </c:spPr>
          <c:marker>
            <c:symbol val="none"/>
          </c:marker>
          <c:cat>
            <c:numRef>
              <c:f>List1!$E$5:$E$25</c:f>
              <c:numCache>
                <c:formatCode>General</c:formatCode>
                <c:ptCount val="21"/>
                <c:pt idx="0">
                  <c:v>1</c:v>
                </c:pt>
                <c:pt idx="1">
                  <c:v>5</c:v>
                </c:pt>
                <c:pt idx="2">
                  <c:v>10</c:v>
                </c:pt>
                <c:pt idx="3">
                  <c:v>15</c:v>
                </c:pt>
                <c:pt idx="4">
                  <c:v>20</c:v>
                </c:pt>
                <c:pt idx="5">
                  <c:v>25</c:v>
                </c:pt>
                <c:pt idx="6">
                  <c:v>30</c:v>
                </c:pt>
                <c:pt idx="7">
                  <c:v>35</c:v>
                </c:pt>
                <c:pt idx="8">
                  <c:v>40</c:v>
                </c:pt>
                <c:pt idx="9">
                  <c:v>45</c:v>
                </c:pt>
                <c:pt idx="10">
                  <c:v>50</c:v>
                </c:pt>
                <c:pt idx="11">
                  <c:v>55</c:v>
                </c:pt>
                <c:pt idx="12">
                  <c:v>60</c:v>
                </c:pt>
                <c:pt idx="13">
                  <c:v>65</c:v>
                </c:pt>
                <c:pt idx="14">
                  <c:v>70</c:v>
                </c:pt>
                <c:pt idx="15">
                  <c:v>75</c:v>
                </c:pt>
                <c:pt idx="16">
                  <c:v>80</c:v>
                </c:pt>
                <c:pt idx="17">
                  <c:v>85</c:v>
                </c:pt>
                <c:pt idx="18">
                  <c:v>90</c:v>
                </c:pt>
                <c:pt idx="19">
                  <c:v>95</c:v>
                </c:pt>
                <c:pt idx="20">
                  <c:v>100</c:v>
                </c:pt>
              </c:numCache>
            </c:numRef>
          </c:cat>
          <c:val>
            <c:numRef>
              <c:f>List1!$G$5:$G$25</c:f>
              <c:numCache>
                <c:formatCode>0.0000</c:formatCode>
                <c:ptCount val="21"/>
                <c:pt idx="0">
                  <c:v>2.0000000000000001E-4</c:v>
                </c:pt>
                <c:pt idx="1">
                  <c:v>2.0999999999999999E-3</c:v>
                </c:pt>
                <c:pt idx="2">
                  <c:v>2.3E-3</c:v>
                </c:pt>
                <c:pt idx="3">
                  <c:v>2E-3</c:v>
                </c:pt>
                <c:pt idx="4">
                  <c:v>2.3999999999999998E-3</c:v>
                </c:pt>
                <c:pt idx="5">
                  <c:v>3.0999999999999999E-3</c:v>
                </c:pt>
                <c:pt idx="6">
                  <c:v>3.7000000000000002E-3</c:v>
                </c:pt>
                <c:pt idx="7">
                  <c:v>4.3E-3</c:v>
                </c:pt>
                <c:pt idx="8">
                  <c:v>5.1999999999999998E-3</c:v>
                </c:pt>
                <c:pt idx="9">
                  <c:v>5.4999999999999997E-3</c:v>
                </c:pt>
                <c:pt idx="10">
                  <c:v>6.1000000000000004E-3</c:v>
                </c:pt>
                <c:pt idx="11">
                  <c:v>6.7000000000000002E-3</c:v>
                </c:pt>
                <c:pt idx="12">
                  <c:v>7.3000000000000001E-3</c:v>
                </c:pt>
                <c:pt idx="13">
                  <c:v>7.7000000000000002E-3</c:v>
                </c:pt>
                <c:pt idx="14">
                  <c:v>8.3000000000000001E-3</c:v>
                </c:pt>
                <c:pt idx="15">
                  <c:v>8.8999999999999999E-3</c:v>
                </c:pt>
                <c:pt idx="16">
                  <c:v>9.1000000000000004E-3</c:v>
                </c:pt>
                <c:pt idx="17">
                  <c:v>1.01E-2</c:v>
                </c:pt>
                <c:pt idx="18">
                  <c:v>1.18E-2</c:v>
                </c:pt>
                <c:pt idx="19">
                  <c:v>1.23E-2</c:v>
                </c:pt>
                <c:pt idx="20">
                  <c:v>1.2500000000000001E-2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540-408E-AADA-E1ADD816298F}"/>
            </c:ext>
          </c:extLst>
        </c:ser>
        <c:ser>
          <c:idx val="1"/>
          <c:order val="1"/>
          <c:tx>
            <c:v>Skup2</c:v>
          </c:tx>
          <c:spPr>
            <a:ln w="28575" cap="rnd">
              <a:solidFill>
                <a:srgbClr val="00B050"/>
              </a:solidFill>
              <a:round/>
            </a:ln>
            <a:effectLst/>
          </c:spPr>
          <c:marker>
            <c:symbol val="none"/>
          </c:marker>
          <c:cat>
            <c:numRef>
              <c:f>List1!$E$5:$E$25</c:f>
              <c:numCache>
                <c:formatCode>General</c:formatCode>
                <c:ptCount val="21"/>
                <c:pt idx="0">
                  <c:v>1</c:v>
                </c:pt>
                <c:pt idx="1">
                  <c:v>5</c:v>
                </c:pt>
                <c:pt idx="2">
                  <c:v>10</c:v>
                </c:pt>
                <c:pt idx="3">
                  <c:v>15</c:v>
                </c:pt>
                <c:pt idx="4">
                  <c:v>20</c:v>
                </c:pt>
                <c:pt idx="5">
                  <c:v>25</c:v>
                </c:pt>
                <c:pt idx="6">
                  <c:v>30</c:v>
                </c:pt>
                <c:pt idx="7">
                  <c:v>35</c:v>
                </c:pt>
                <c:pt idx="8">
                  <c:v>40</c:v>
                </c:pt>
                <c:pt idx="9">
                  <c:v>45</c:v>
                </c:pt>
                <c:pt idx="10">
                  <c:v>50</c:v>
                </c:pt>
                <c:pt idx="11">
                  <c:v>55</c:v>
                </c:pt>
                <c:pt idx="12">
                  <c:v>60</c:v>
                </c:pt>
                <c:pt idx="13">
                  <c:v>65</c:v>
                </c:pt>
                <c:pt idx="14">
                  <c:v>70</c:v>
                </c:pt>
                <c:pt idx="15">
                  <c:v>75</c:v>
                </c:pt>
                <c:pt idx="16">
                  <c:v>80</c:v>
                </c:pt>
                <c:pt idx="17">
                  <c:v>85</c:v>
                </c:pt>
                <c:pt idx="18">
                  <c:v>90</c:v>
                </c:pt>
                <c:pt idx="19">
                  <c:v>95</c:v>
                </c:pt>
                <c:pt idx="20">
                  <c:v>100</c:v>
                </c:pt>
              </c:numCache>
            </c:numRef>
          </c:cat>
          <c:val>
            <c:numRef>
              <c:f>List1!$H$5:$H$25</c:f>
              <c:numCache>
                <c:formatCode>0.0000</c:formatCode>
                <c:ptCount val="21"/>
                <c:pt idx="0">
                  <c:v>4.0000000000000002E-4</c:v>
                </c:pt>
                <c:pt idx="1">
                  <c:v>1.8E-3</c:v>
                </c:pt>
                <c:pt idx="2">
                  <c:v>1.6999999999999999E-3</c:v>
                </c:pt>
                <c:pt idx="3">
                  <c:v>2.5000000000000001E-3</c:v>
                </c:pt>
                <c:pt idx="4">
                  <c:v>3.3E-3</c:v>
                </c:pt>
                <c:pt idx="5">
                  <c:v>4.1999999999999997E-3</c:v>
                </c:pt>
                <c:pt idx="6">
                  <c:v>3.5999999999999999E-3</c:v>
                </c:pt>
                <c:pt idx="7">
                  <c:v>4.4999999999999997E-3</c:v>
                </c:pt>
                <c:pt idx="8">
                  <c:v>5.0000000000000001E-3</c:v>
                </c:pt>
                <c:pt idx="9">
                  <c:v>5.5999999999999999E-3</c:v>
                </c:pt>
                <c:pt idx="10">
                  <c:v>6.3E-3</c:v>
                </c:pt>
                <c:pt idx="11">
                  <c:v>6.7000000000000002E-3</c:v>
                </c:pt>
                <c:pt idx="12">
                  <c:v>7.3000000000000001E-3</c:v>
                </c:pt>
                <c:pt idx="13">
                  <c:v>7.7000000000000002E-3</c:v>
                </c:pt>
                <c:pt idx="14">
                  <c:v>9.1999999999999998E-3</c:v>
                </c:pt>
                <c:pt idx="15">
                  <c:v>0.01</c:v>
                </c:pt>
                <c:pt idx="16">
                  <c:v>9.4999999999999998E-3</c:v>
                </c:pt>
                <c:pt idx="17">
                  <c:v>1.01E-2</c:v>
                </c:pt>
                <c:pt idx="18">
                  <c:v>1.2E-2</c:v>
                </c:pt>
                <c:pt idx="19">
                  <c:v>1.2E-2</c:v>
                </c:pt>
                <c:pt idx="20">
                  <c:v>1.3599999999999999E-2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540-408E-AADA-E1ADD816298F}"/>
            </c:ext>
          </c:extLst>
        </c:ser>
        <c:ser>
          <c:idx val="2"/>
          <c:order val="2"/>
          <c:tx>
            <c:v>Skup3</c:v>
          </c:tx>
          <c:spPr>
            <a:ln w="28575" cap="rnd">
              <a:solidFill>
                <a:srgbClr val="FFC000"/>
              </a:solidFill>
              <a:round/>
            </a:ln>
            <a:effectLst/>
          </c:spPr>
          <c:marker>
            <c:symbol val="none"/>
          </c:marker>
          <c:cat>
            <c:numRef>
              <c:f>List1!$E$5:$E$25</c:f>
              <c:numCache>
                <c:formatCode>General</c:formatCode>
                <c:ptCount val="21"/>
                <c:pt idx="0">
                  <c:v>1</c:v>
                </c:pt>
                <c:pt idx="1">
                  <c:v>5</c:v>
                </c:pt>
                <c:pt idx="2">
                  <c:v>10</c:v>
                </c:pt>
                <c:pt idx="3">
                  <c:v>15</c:v>
                </c:pt>
                <c:pt idx="4">
                  <c:v>20</c:v>
                </c:pt>
                <c:pt idx="5">
                  <c:v>25</c:v>
                </c:pt>
                <c:pt idx="6">
                  <c:v>30</c:v>
                </c:pt>
                <c:pt idx="7">
                  <c:v>35</c:v>
                </c:pt>
                <c:pt idx="8">
                  <c:v>40</c:v>
                </c:pt>
                <c:pt idx="9">
                  <c:v>45</c:v>
                </c:pt>
                <c:pt idx="10">
                  <c:v>50</c:v>
                </c:pt>
                <c:pt idx="11">
                  <c:v>55</c:v>
                </c:pt>
                <c:pt idx="12">
                  <c:v>60</c:v>
                </c:pt>
                <c:pt idx="13">
                  <c:v>65</c:v>
                </c:pt>
                <c:pt idx="14">
                  <c:v>70</c:v>
                </c:pt>
                <c:pt idx="15">
                  <c:v>75</c:v>
                </c:pt>
                <c:pt idx="16">
                  <c:v>80</c:v>
                </c:pt>
                <c:pt idx="17">
                  <c:v>85</c:v>
                </c:pt>
                <c:pt idx="18">
                  <c:v>90</c:v>
                </c:pt>
                <c:pt idx="19">
                  <c:v>95</c:v>
                </c:pt>
                <c:pt idx="20">
                  <c:v>100</c:v>
                </c:pt>
              </c:numCache>
            </c:numRef>
          </c:cat>
          <c:val>
            <c:numRef>
              <c:f>List1!$I$5:$I$25</c:f>
              <c:numCache>
                <c:formatCode>0.0000</c:formatCode>
                <c:ptCount val="21"/>
                <c:pt idx="0">
                  <c:v>2.9999999999999997E-4</c:v>
                </c:pt>
                <c:pt idx="1">
                  <c:v>1.6999999999999999E-3</c:v>
                </c:pt>
                <c:pt idx="2">
                  <c:v>1.4E-3</c:v>
                </c:pt>
                <c:pt idx="3">
                  <c:v>2.0999999999999999E-3</c:v>
                </c:pt>
                <c:pt idx="4">
                  <c:v>2.5999999999999999E-3</c:v>
                </c:pt>
                <c:pt idx="5">
                  <c:v>3.2000000000000002E-3</c:v>
                </c:pt>
                <c:pt idx="6">
                  <c:v>3.8999999999999998E-3</c:v>
                </c:pt>
                <c:pt idx="7">
                  <c:v>4.4999999999999997E-3</c:v>
                </c:pt>
                <c:pt idx="8">
                  <c:v>4.4000000000000003E-3</c:v>
                </c:pt>
                <c:pt idx="9">
                  <c:v>5.4999999999999997E-3</c:v>
                </c:pt>
                <c:pt idx="10">
                  <c:v>6.0000000000000001E-3</c:v>
                </c:pt>
                <c:pt idx="11">
                  <c:v>6.6E-3</c:v>
                </c:pt>
                <c:pt idx="12">
                  <c:v>7.3000000000000001E-3</c:v>
                </c:pt>
                <c:pt idx="13">
                  <c:v>8.0999999999999996E-3</c:v>
                </c:pt>
                <c:pt idx="14">
                  <c:v>9.2999999999999992E-3</c:v>
                </c:pt>
                <c:pt idx="15">
                  <c:v>8.8999999999999999E-3</c:v>
                </c:pt>
                <c:pt idx="16">
                  <c:v>9.5999999999999992E-3</c:v>
                </c:pt>
                <c:pt idx="17">
                  <c:v>1.15E-2</c:v>
                </c:pt>
                <c:pt idx="18">
                  <c:v>1.1299999999999999E-2</c:v>
                </c:pt>
                <c:pt idx="19">
                  <c:v>1.17E-2</c:v>
                </c:pt>
                <c:pt idx="20">
                  <c:v>1.21E-2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1540-408E-AADA-E1ADD816298F}"/>
            </c:ext>
          </c:extLst>
        </c:ser>
        <c:ser>
          <c:idx val="3"/>
          <c:order val="3"/>
          <c:tx>
            <c:v>Skup4</c:v>
          </c:tx>
          <c:spPr>
            <a:ln w="28575" cap="rnd">
              <a:solidFill>
                <a:srgbClr val="FF0000"/>
              </a:solidFill>
              <a:round/>
            </a:ln>
            <a:effectLst/>
          </c:spPr>
          <c:marker>
            <c:symbol val="none"/>
          </c:marker>
          <c:cat>
            <c:numRef>
              <c:f>List1!$E$5:$E$25</c:f>
              <c:numCache>
                <c:formatCode>General</c:formatCode>
                <c:ptCount val="21"/>
                <c:pt idx="0">
                  <c:v>1</c:v>
                </c:pt>
                <c:pt idx="1">
                  <c:v>5</c:v>
                </c:pt>
                <c:pt idx="2">
                  <c:v>10</c:v>
                </c:pt>
                <c:pt idx="3">
                  <c:v>15</c:v>
                </c:pt>
                <c:pt idx="4">
                  <c:v>20</c:v>
                </c:pt>
                <c:pt idx="5">
                  <c:v>25</c:v>
                </c:pt>
                <c:pt idx="6">
                  <c:v>30</c:v>
                </c:pt>
                <c:pt idx="7">
                  <c:v>35</c:v>
                </c:pt>
                <c:pt idx="8">
                  <c:v>40</c:v>
                </c:pt>
                <c:pt idx="9">
                  <c:v>45</c:v>
                </c:pt>
                <c:pt idx="10">
                  <c:v>50</c:v>
                </c:pt>
                <c:pt idx="11">
                  <c:v>55</c:v>
                </c:pt>
                <c:pt idx="12">
                  <c:v>60</c:v>
                </c:pt>
                <c:pt idx="13">
                  <c:v>65</c:v>
                </c:pt>
                <c:pt idx="14">
                  <c:v>70</c:v>
                </c:pt>
                <c:pt idx="15">
                  <c:v>75</c:v>
                </c:pt>
                <c:pt idx="16">
                  <c:v>80</c:v>
                </c:pt>
                <c:pt idx="17">
                  <c:v>85</c:v>
                </c:pt>
                <c:pt idx="18">
                  <c:v>90</c:v>
                </c:pt>
                <c:pt idx="19">
                  <c:v>95</c:v>
                </c:pt>
                <c:pt idx="20">
                  <c:v>100</c:v>
                </c:pt>
              </c:numCache>
            </c:numRef>
          </c:cat>
          <c:val>
            <c:numRef>
              <c:f>List1!$F$5:$F$25</c:f>
              <c:numCache>
                <c:formatCode>0.0000</c:formatCode>
                <c:ptCount val="21"/>
                <c:pt idx="0">
                  <c:v>4.0000000000000002E-4</c:v>
                </c:pt>
                <c:pt idx="1">
                  <c:v>5.9999999999999995E-4</c:v>
                </c:pt>
                <c:pt idx="2">
                  <c:v>8.9999999999999998E-4</c:v>
                </c:pt>
                <c:pt idx="3">
                  <c:v>1.5E-3</c:v>
                </c:pt>
                <c:pt idx="4">
                  <c:v>1.6999999999999999E-3</c:v>
                </c:pt>
                <c:pt idx="5">
                  <c:v>2.0999999999999999E-3</c:v>
                </c:pt>
                <c:pt idx="6">
                  <c:v>2.5000000000000001E-3</c:v>
                </c:pt>
                <c:pt idx="7">
                  <c:v>3.0000000000000001E-3</c:v>
                </c:pt>
                <c:pt idx="8">
                  <c:v>3.0999999999999999E-3</c:v>
                </c:pt>
                <c:pt idx="9">
                  <c:v>3.3999999999999998E-3</c:v>
                </c:pt>
                <c:pt idx="10">
                  <c:v>3.7000000000000002E-3</c:v>
                </c:pt>
                <c:pt idx="11">
                  <c:v>4.3E-3</c:v>
                </c:pt>
                <c:pt idx="12">
                  <c:v>4.4999999999999997E-3</c:v>
                </c:pt>
                <c:pt idx="13">
                  <c:v>4.7000000000000002E-3</c:v>
                </c:pt>
                <c:pt idx="14">
                  <c:v>5.7999999999999996E-3</c:v>
                </c:pt>
                <c:pt idx="15">
                  <c:v>6.7999999999999996E-3</c:v>
                </c:pt>
                <c:pt idx="16">
                  <c:v>6.4999999999999997E-3</c:v>
                </c:pt>
                <c:pt idx="17">
                  <c:v>6.3E-3</c:v>
                </c:pt>
                <c:pt idx="18">
                  <c:v>6.4999999999999997E-3</c:v>
                </c:pt>
                <c:pt idx="19">
                  <c:v>7.1999999999999998E-3</c:v>
                </c:pt>
                <c:pt idx="20">
                  <c:v>7.1999999999999998E-3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1540-408E-AADA-E1ADD816298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769449744"/>
        <c:axId val="769447248"/>
      </c:lineChart>
      <c:catAx>
        <c:axId val="7694497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sr-Latn-RS"/>
          </a:p>
        </c:txPr>
        <c:crossAx val="769447248"/>
        <c:crosses val="autoZero"/>
        <c:auto val="1"/>
        <c:lblAlgn val="ctr"/>
        <c:lblOffset val="100"/>
        <c:noMultiLvlLbl val="0"/>
      </c:catAx>
      <c:valAx>
        <c:axId val="769447248"/>
        <c:scaling>
          <c:orientation val="minMax"/>
          <c:max val="2.0000000000000004E-2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sr-Latn-RS"/>
          </a:p>
        </c:txPr>
        <c:crossAx val="76944974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sr-Latn-R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hr-H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v>M = 10</c:v>
          </c:tx>
          <c:spPr>
            <a:ln w="28575" cap="rnd">
              <a:solidFill>
                <a:srgbClr val="FF0000"/>
              </a:solidFill>
              <a:round/>
            </a:ln>
            <a:effectLst/>
          </c:spPr>
          <c:marker>
            <c:symbol val="none"/>
          </c:marker>
          <c:cat>
            <c:numRef>
              <c:f>List1!$M$5:$M$25</c:f>
              <c:numCache>
                <c:formatCode>General</c:formatCode>
                <c:ptCount val="21"/>
                <c:pt idx="0">
                  <c:v>1</c:v>
                </c:pt>
                <c:pt idx="1">
                  <c:v>5</c:v>
                </c:pt>
                <c:pt idx="2">
                  <c:v>10</c:v>
                </c:pt>
                <c:pt idx="3">
                  <c:v>15</c:v>
                </c:pt>
                <c:pt idx="4">
                  <c:v>20</c:v>
                </c:pt>
                <c:pt idx="5">
                  <c:v>25</c:v>
                </c:pt>
                <c:pt idx="6">
                  <c:v>30</c:v>
                </c:pt>
                <c:pt idx="7">
                  <c:v>35</c:v>
                </c:pt>
                <c:pt idx="8">
                  <c:v>40</c:v>
                </c:pt>
                <c:pt idx="9">
                  <c:v>45</c:v>
                </c:pt>
                <c:pt idx="10">
                  <c:v>50</c:v>
                </c:pt>
                <c:pt idx="11">
                  <c:v>55</c:v>
                </c:pt>
                <c:pt idx="12">
                  <c:v>60</c:v>
                </c:pt>
                <c:pt idx="13">
                  <c:v>65</c:v>
                </c:pt>
                <c:pt idx="14">
                  <c:v>70</c:v>
                </c:pt>
                <c:pt idx="15">
                  <c:v>75</c:v>
                </c:pt>
                <c:pt idx="16">
                  <c:v>80</c:v>
                </c:pt>
                <c:pt idx="17">
                  <c:v>85</c:v>
                </c:pt>
                <c:pt idx="18">
                  <c:v>90</c:v>
                </c:pt>
                <c:pt idx="19">
                  <c:v>95</c:v>
                </c:pt>
                <c:pt idx="20">
                  <c:v>100</c:v>
                </c:pt>
              </c:numCache>
            </c:numRef>
          </c:cat>
          <c:val>
            <c:numRef>
              <c:f>List1!$N$5:$N$25</c:f>
              <c:numCache>
                <c:formatCode>0.0000</c:formatCode>
                <c:ptCount val="21"/>
                <c:pt idx="0">
                  <c:v>2.0000000000000001E-4</c:v>
                </c:pt>
                <c:pt idx="1">
                  <c:v>1.5E-3</c:v>
                </c:pt>
                <c:pt idx="2">
                  <c:v>1E-3</c:v>
                </c:pt>
                <c:pt idx="3">
                  <c:v>1.6000000000000001E-3</c:v>
                </c:pt>
                <c:pt idx="4">
                  <c:v>2E-3</c:v>
                </c:pt>
                <c:pt idx="5">
                  <c:v>2.3999999999999998E-3</c:v>
                </c:pt>
                <c:pt idx="6">
                  <c:v>3.5000000000000001E-3</c:v>
                </c:pt>
                <c:pt idx="7">
                  <c:v>3.5999999999999999E-3</c:v>
                </c:pt>
                <c:pt idx="8">
                  <c:v>4.1999999999999997E-3</c:v>
                </c:pt>
                <c:pt idx="9">
                  <c:v>4.5999999999999999E-3</c:v>
                </c:pt>
                <c:pt idx="10">
                  <c:v>5.0000000000000001E-3</c:v>
                </c:pt>
                <c:pt idx="11">
                  <c:v>5.5999999999999999E-3</c:v>
                </c:pt>
                <c:pt idx="12">
                  <c:v>6.3E-3</c:v>
                </c:pt>
                <c:pt idx="13">
                  <c:v>6.8999999999999999E-3</c:v>
                </c:pt>
                <c:pt idx="14">
                  <c:v>7.7000000000000002E-3</c:v>
                </c:pt>
                <c:pt idx="15">
                  <c:v>7.7999999999999996E-3</c:v>
                </c:pt>
                <c:pt idx="16">
                  <c:v>8.3999999999999995E-3</c:v>
                </c:pt>
                <c:pt idx="17">
                  <c:v>8.8999999999999999E-3</c:v>
                </c:pt>
                <c:pt idx="18">
                  <c:v>9.7000000000000003E-3</c:v>
                </c:pt>
                <c:pt idx="19">
                  <c:v>1.04E-2</c:v>
                </c:pt>
                <c:pt idx="20">
                  <c:v>1.14E-2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D7B-4460-94B8-F1C9B67BAC43}"/>
            </c:ext>
          </c:extLst>
        </c:ser>
        <c:ser>
          <c:idx val="1"/>
          <c:order val="1"/>
          <c:tx>
            <c:v>M = 20</c:v>
          </c:tx>
          <c:spPr>
            <a:ln w="28575" cap="rnd">
              <a:solidFill>
                <a:srgbClr val="00B0F0"/>
              </a:solidFill>
              <a:round/>
            </a:ln>
            <a:effectLst/>
          </c:spPr>
          <c:marker>
            <c:symbol val="none"/>
          </c:marker>
          <c:cat>
            <c:numRef>
              <c:f>List1!$M$5:$M$25</c:f>
              <c:numCache>
                <c:formatCode>General</c:formatCode>
                <c:ptCount val="21"/>
                <c:pt idx="0">
                  <c:v>1</c:v>
                </c:pt>
                <c:pt idx="1">
                  <c:v>5</c:v>
                </c:pt>
                <c:pt idx="2">
                  <c:v>10</c:v>
                </c:pt>
                <c:pt idx="3">
                  <c:v>15</c:v>
                </c:pt>
                <c:pt idx="4">
                  <c:v>20</c:v>
                </c:pt>
                <c:pt idx="5">
                  <c:v>25</c:v>
                </c:pt>
                <c:pt idx="6">
                  <c:v>30</c:v>
                </c:pt>
                <c:pt idx="7">
                  <c:v>35</c:v>
                </c:pt>
                <c:pt idx="8">
                  <c:v>40</c:v>
                </c:pt>
                <c:pt idx="9">
                  <c:v>45</c:v>
                </c:pt>
                <c:pt idx="10">
                  <c:v>50</c:v>
                </c:pt>
                <c:pt idx="11">
                  <c:v>55</c:v>
                </c:pt>
                <c:pt idx="12">
                  <c:v>60</c:v>
                </c:pt>
                <c:pt idx="13">
                  <c:v>65</c:v>
                </c:pt>
                <c:pt idx="14">
                  <c:v>70</c:v>
                </c:pt>
                <c:pt idx="15">
                  <c:v>75</c:v>
                </c:pt>
                <c:pt idx="16">
                  <c:v>80</c:v>
                </c:pt>
                <c:pt idx="17">
                  <c:v>85</c:v>
                </c:pt>
                <c:pt idx="18">
                  <c:v>90</c:v>
                </c:pt>
                <c:pt idx="19">
                  <c:v>95</c:v>
                </c:pt>
                <c:pt idx="20">
                  <c:v>100</c:v>
                </c:pt>
              </c:numCache>
            </c:numRef>
          </c:cat>
          <c:val>
            <c:numRef>
              <c:f>List1!$O$5:$O$25</c:f>
              <c:numCache>
                <c:formatCode>0.0000</c:formatCode>
                <c:ptCount val="21"/>
                <c:pt idx="0">
                  <c:v>0</c:v>
                </c:pt>
                <c:pt idx="1">
                  <c:v>5.9999999999999995E-4</c:v>
                </c:pt>
                <c:pt idx="2">
                  <c:v>1E-3</c:v>
                </c:pt>
                <c:pt idx="3">
                  <c:v>1.5E-3</c:v>
                </c:pt>
                <c:pt idx="4">
                  <c:v>1.9E-3</c:v>
                </c:pt>
                <c:pt idx="5">
                  <c:v>2.7000000000000001E-3</c:v>
                </c:pt>
                <c:pt idx="6">
                  <c:v>3.7000000000000002E-3</c:v>
                </c:pt>
                <c:pt idx="7">
                  <c:v>3.5000000000000001E-3</c:v>
                </c:pt>
                <c:pt idx="8">
                  <c:v>4.5999999999999999E-3</c:v>
                </c:pt>
                <c:pt idx="9">
                  <c:v>4.4999999999999997E-3</c:v>
                </c:pt>
                <c:pt idx="10">
                  <c:v>5.8999999999999999E-3</c:v>
                </c:pt>
                <c:pt idx="11">
                  <c:v>5.7999999999999996E-3</c:v>
                </c:pt>
                <c:pt idx="12">
                  <c:v>6.7999999999999996E-3</c:v>
                </c:pt>
                <c:pt idx="13">
                  <c:v>6.8999999999999999E-3</c:v>
                </c:pt>
                <c:pt idx="14">
                  <c:v>7.6E-3</c:v>
                </c:pt>
                <c:pt idx="15">
                  <c:v>8.0000000000000002E-3</c:v>
                </c:pt>
                <c:pt idx="16">
                  <c:v>9.9000000000000008E-3</c:v>
                </c:pt>
                <c:pt idx="17">
                  <c:v>1.06E-2</c:v>
                </c:pt>
                <c:pt idx="18">
                  <c:v>8.8000000000000005E-3</c:v>
                </c:pt>
                <c:pt idx="19">
                  <c:v>1.0500000000000001E-2</c:v>
                </c:pt>
                <c:pt idx="20">
                  <c:v>1.2E-2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D7B-4460-94B8-F1C9B67BAC43}"/>
            </c:ext>
          </c:extLst>
        </c:ser>
        <c:ser>
          <c:idx val="2"/>
          <c:order val="2"/>
          <c:tx>
            <c:v>M = 50</c:v>
          </c:tx>
          <c:spPr>
            <a:ln w="28575" cap="rnd">
              <a:solidFill>
                <a:srgbClr val="00B050"/>
              </a:solidFill>
              <a:round/>
            </a:ln>
            <a:effectLst/>
          </c:spPr>
          <c:marker>
            <c:symbol val="none"/>
          </c:marker>
          <c:cat>
            <c:numRef>
              <c:f>List1!$M$5:$M$25</c:f>
              <c:numCache>
                <c:formatCode>General</c:formatCode>
                <c:ptCount val="21"/>
                <c:pt idx="0">
                  <c:v>1</c:v>
                </c:pt>
                <c:pt idx="1">
                  <c:v>5</c:v>
                </c:pt>
                <c:pt idx="2">
                  <c:v>10</c:v>
                </c:pt>
                <c:pt idx="3">
                  <c:v>15</c:v>
                </c:pt>
                <c:pt idx="4">
                  <c:v>20</c:v>
                </c:pt>
                <c:pt idx="5">
                  <c:v>25</c:v>
                </c:pt>
                <c:pt idx="6">
                  <c:v>30</c:v>
                </c:pt>
                <c:pt idx="7">
                  <c:v>35</c:v>
                </c:pt>
                <c:pt idx="8">
                  <c:v>40</c:v>
                </c:pt>
                <c:pt idx="9">
                  <c:v>45</c:v>
                </c:pt>
                <c:pt idx="10">
                  <c:v>50</c:v>
                </c:pt>
                <c:pt idx="11">
                  <c:v>55</c:v>
                </c:pt>
                <c:pt idx="12">
                  <c:v>60</c:v>
                </c:pt>
                <c:pt idx="13">
                  <c:v>65</c:v>
                </c:pt>
                <c:pt idx="14">
                  <c:v>70</c:v>
                </c:pt>
                <c:pt idx="15">
                  <c:v>75</c:v>
                </c:pt>
                <c:pt idx="16">
                  <c:v>80</c:v>
                </c:pt>
                <c:pt idx="17">
                  <c:v>85</c:v>
                </c:pt>
                <c:pt idx="18">
                  <c:v>90</c:v>
                </c:pt>
                <c:pt idx="19">
                  <c:v>95</c:v>
                </c:pt>
                <c:pt idx="20">
                  <c:v>100</c:v>
                </c:pt>
              </c:numCache>
            </c:numRef>
          </c:cat>
          <c:val>
            <c:numRef>
              <c:f>List1!$P$5:$P$25</c:f>
              <c:numCache>
                <c:formatCode>0.0000</c:formatCode>
                <c:ptCount val="21"/>
                <c:pt idx="0">
                  <c:v>0</c:v>
                </c:pt>
                <c:pt idx="1">
                  <c:v>6.9999999999999999E-4</c:v>
                </c:pt>
                <c:pt idx="2">
                  <c:v>1E-3</c:v>
                </c:pt>
                <c:pt idx="3">
                  <c:v>1.8E-3</c:v>
                </c:pt>
                <c:pt idx="4">
                  <c:v>2.0999999999999999E-3</c:v>
                </c:pt>
                <c:pt idx="5">
                  <c:v>2.8E-3</c:v>
                </c:pt>
                <c:pt idx="6">
                  <c:v>3.2000000000000002E-3</c:v>
                </c:pt>
                <c:pt idx="7">
                  <c:v>3.5000000000000001E-3</c:v>
                </c:pt>
                <c:pt idx="8">
                  <c:v>4.1000000000000003E-3</c:v>
                </c:pt>
                <c:pt idx="9">
                  <c:v>4.4999999999999997E-3</c:v>
                </c:pt>
                <c:pt idx="10">
                  <c:v>5.3E-3</c:v>
                </c:pt>
                <c:pt idx="11">
                  <c:v>6.6E-3</c:v>
                </c:pt>
                <c:pt idx="12">
                  <c:v>6.4000000000000003E-3</c:v>
                </c:pt>
                <c:pt idx="13">
                  <c:v>6.4000000000000003E-3</c:v>
                </c:pt>
                <c:pt idx="14">
                  <c:v>7.7999999999999996E-3</c:v>
                </c:pt>
                <c:pt idx="15">
                  <c:v>8.6E-3</c:v>
                </c:pt>
                <c:pt idx="16">
                  <c:v>1.06E-2</c:v>
                </c:pt>
                <c:pt idx="17">
                  <c:v>9.5999999999999992E-3</c:v>
                </c:pt>
                <c:pt idx="18">
                  <c:v>1.0699999999999999E-2</c:v>
                </c:pt>
                <c:pt idx="19">
                  <c:v>1.24E-2</c:v>
                </c:pt>
                <c:pt idx="20">
                  <c:v>1.1900000000000001E-2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4D7B-4460-94B8-F1C9B67BAC43}"/>
            </c:ext>
          </c:extLst>
        </c:ser>
        <c:ser>
          <c:idx val="3"/>
          <c:order val="3"/>
          <c:tx>
            <c:v>M = 100</c:v>
          </c:tx>
          <c:spPr>
            <a:ln w="28575" cap="rnd">
              <a:solidFill>
                <a:srgbClr val="FFC000"/>
              </a:solidFill>
              <a:round/>
            </a:ln>
            <a:effectLst/>
          </c:spPr>
          <c:marker>
            <c:symbol val="none"/>
          </c:marker>
          <c:cat>
            <c:numRef>
              <c:f>List1!$M$5:$M$25</c:f>
              <c:numCache>
                <c:formatCode>General</c:formatCode>
                <c:ptCount val="21"/>
                <c:pt idx="0">
                  <c:v>1</c:v>
                </c:pt>
                <c:pt idx="1">
                  <c:v>5</c:v>
                </c:pt>
                <c:pt idx="2">
                  <c:v>10</c:v>
                </c:pt>
                <c:pt idx="3">
                  <c:v>15</c:v>
                </c:pt>
                <c:pt idx="4">
                  <c:v>20</c:v>
                </c:pt>
                <c:pt idx="5">
                  <c:v>25</c:v>
                </c:pt>
                <c:pt idx="6">
                  <c:v>30</c:v>
                </c:pt>
                <c:pt idx="7">
                  <c:v>35</c:v>
                </c:pt>
                <c:pt idx="8">
                  <c:v>40</c:v>
                </c:pt>
                <c:pt idx="9">
                  <c:v>45</c:v>
                </c:pt>
                <c:pt idx="10">
                  <c:v>50</c:v>
                </c:pt>
                <c:pt idx="11">
                  <c:v>55</c:v>
                </c:pt>
                <c:pt idx="12">
                  <c:v>60</c:v>
                </c:pt>
                <c:pt idx="13">
                  <c:v>65</c:v>
                </c:pt>
                <c:pt idx="14">
                  <c:v>70</c:v>
                </c:pt>
                <c:pt idx="15">
                  <c:v>75</c:v>
                </c:pt>
                <c:pt idx="16">
                  <c:v>80</c:v>
                </c:pt>
                <c:pt idx="17">
                  <c:v>85</c:v>
                </c:pt>
                <c:pt idx="18">
                  <c:v>90</c:v>
                </c:pt>
                <c:pt idx="19">
                  <c:v>95</c:v>
                </c:pt>
                <c:pt idx="20">
                  <c:v>100</c:v>
                </c:pt>
              </c:numCache>
            </c:numRef>
          </c:cat>
          <c:val>
            <c:numRef>
              <c:f>List1!$Q$5:$Q$25</c:f>
              <c:numCache>
                <c:formatCode>0.0000</c:formatCode>
                <c:ptCount val="21"/>
                <c:pt idx="0">
                  <c:v>2.0000000000000001E-4</c:v>
                </c:pt>
                <c:pt idx="1">
                  <c:v>6.9999999999999999E-4</c:v>
                </c:pt>
                <c:pt idx="2">
                  <c:v>1.2999999999999999E-3</c:v>
                </c:pt>
                <c:pt idx="3">
                  <c:v>1.9E-3</c:v>
                </c:pt>
                <c:pt idx="4">
                  <c:v>2.2000000000000001E-3</c:v>
                </c:pt>
                <c:pt idx="5">
                  <c:v>2.5000000000000001E-3</c:v>
                </c:pt>
                <c:pt idx="6">
                  <c:v>3.0999999999999999E-3</c:v>
                </c:pt>
                <c:pt idx="7">
                  <c:v>3.7000000000000002E-3</c:v>
                </c:pt>
                <c:pt idx="8">
                  <c:v>4.1999999999999997E-3</c:v>
                </c:pt>
                <c:pt idx="9">
                  <c:v>4.7999999999999996E-3</c:v>
                </c:pt>
                <c:pt idx="10">
                  <c:v>5.7999999999999996E-3</c:v>
                </c:pt>
                <c:pt idx="11">
                  <c:v>6.8999999999999999E-3</c:v>
                </c:pt>
                <c:pt idx="12">
                  <c:v>8.3000000000000001E-3</c:v>
                </c:pt>
                <c:pt idx="13">
                  <c:v>8.3000000000000001E-3</c:v>
                </c:pt>
                <c:pt idx="14">
                  <c:v>9.9000000000000008E-3</c:v>
                </c:pt>
                <c:pt idx="15">
                  <c:v>1.09E-2</c:v>
                </c:pt>
                <c:pt idx="16">
                  <c:v>9.1999999999999998E-3</c:v>
                </c:pt>
                <c:pt idx="17">
                  <c:v>8.8999999999999999E-3</c:v>
                </c:pt>
                <c:pt idx="18">
                  <c:v>9.4000000000000004E-3</c:v>
                </c:pt>
                <c:pt idx="19">
                  <c:v>1.15E-2</c:v>
                </c:pt>
                <c:pt idx="20">
                  <c:v>1.1900000000000001E-2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4D7B-4460-94B8-F1C9B67BAC4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677948992"/>
        <c:axId val="677949408"/>
      </c:lineChart>
      <c:catAx>
        <c:axId val="67794899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sr-Latn-RS"/>
          </a:p>
        </c:txPr>
        <c:crossAx val="677949408"/>
        <c:crosses val="autoZero"/>
        <c:auto val="1"/>
        <c:lblAlgn val="ctr"/>
        <c:lblOffset val="100"/>
        <c:noMultiLvlLbl val="0"/>
      </c:catAx>
      <c:valAx>
        <c:axId val="6779494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sr-Latn-RS"/>
          </a:p>
        </c:txPr>
        <c:crossAx val="67794899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sr-Latn-R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hr-H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3"/>
          <c:order val="0"/>
          <c:tx>
            <c:v>M = 10</c:v>
          </c:tx>
          <c:spPr>
            <a:ln w="28575" cap="rnd">
              <a:solidFill>
                <a:srgbClr val="FF0000"/>
              </a:solidFill>
              <a:round/>
            </a:ln>
            <a:effectLst/>
          </c:spPr>
          <c:marker>
            <c:symbol val="none"/>
          </c:marker>
          <c:cat>
            <c:numRef>
              <c:f>List1!$T$5:$T$25</c:f>
              <c:numCache>
                <c:formatCode>General</c:formatCode>
                <c:ptCount val="21"/>
                <c:pt idx="0">
                  <c:v>1</c:v>
                </c:pt>
                <c:pt idx="1">
                  <c:v>5</c:v>
                </c:pt>
                <c:pt idx="2">
                  <c:v>10</c:v>
                </c:pt>
                <c:pt idx="3">
                  <c:v>15</c:v>
                </c:pt>
                <c:pt idx="4">
                  <c:v>20</c:v>
                </c:pt>
                <c:pt idx="5">
                  <c:v>25</c:v>
                </c:pt>
                <c:pt idx="6">
                  <c:v>30</c:v>
                </c:pt>
                <c:pt idx="7">
                  <c:v>35</c:v>
                </c:pt>
                <c:pt idx="8">
                  <c:v>40</c:v>
                </c:pt>
                <c:pt idx="9">
                  <c:v>45</c:v>
                </c:pt>
                <c:pt idx="10">
                  <c:v>50</c:v>
                </c:pt>
                <c:pt idx="11">
                  <c:v>55</c:v>
                </c:pt>
                <c:pt idx="12">
                  <c:v>60</c:v>
                </c:pt>
                <c:pt idx="13">
                  <c:v>65</c:v>
                </c:pt>
                <c:pt idx="14">
                  <c:v>70</c:v>
                </c:pt>
                <c:pt idx="15">
                  <c:v>75</c:v>
                </c:pt>
                <c:pt idx="16">
                  <c:v>80</c:v>
                </c:pt>
                <c:pt idx="17">
                  <c:v>85</c:v>
                </c:pt>
                <c:pt idx="18">
                  <c:v>90</c:v>
                </c:pt>
                <c:pt idx="19">
                  <c:v>95</c:v>
                </c:pt>
                <c:pt idx="20">
                  <c:v>100</c:v>
                </c:pt>
              </c:numCache>
            </c:numRef>
          </c:cat>
          <c:val>
            <c:numRef>
              <c:f>List1!$U$5:$U$25</c:f>
              <c:numCache>
                <c:formatCode>0.0000</c:formatCode>
                <c:ptCount val="21"/>
                <c:pt idx="0">
                  <c:v>0</c:v>
                </c:pt>
                <c:pt idx="1">
                  <c:v>1E-4</c:v>
                </c:pt>
                <c:pt idx="2">
                  <c:v>2.9999999999999997E-4</c:v>
                </c:pt>
                <c:pt idx="3">
                  <c:v>5.0000000000000001E-4</c:v>
                </c:pt>
                <c:pt idx="4">
                  <c:v>4.0000000000000002E-4</c:v>
                </c:pt>
                <c:pt idx="5">
                  <c:v>5.9999999999999995E-4</c:v>
                </c:pt>
                <c:pt idx="6">
                  <c:v>8.0000000000000004E-4</c:v>
                </c:pt>
                <c:pt idx="7">
                  <c:v>1E-3</c:v>
                </c:pt>
                <c:pt idx="8">
                  <c:v>1.1000000000000001E-3</c:v>
                </c:pt>
                <c:pt idx="9">
                  <c:v>1.1000000000000001E-3</c:v>
                </c:pt>
                <c:pt idx="10">
                  <c:v>1.4E-3</c:v>
                </c:pt>
                <c:pt idx="11">
                  <c:v>1.5E-3</c:v>
                </c:pt>
                <c:pt idx="12">
                  <c:v>1.2999999999999999E-3</c:v>
                </c:pt>
                <c:pt idx="13">
                  <c:v>1.5E-3</c:v>
                </c:pt>
                <c:pt idx="14">
                  <c:v>1.9E-3</c:v>
                </c:pt>
                <c:pt idx="15">
                  <c:v>2.0999999999999999E-3</c:v>
                </c:pt>
                <c:pt idx="16">
                  <c:v>2E-3</c:v>
                </c:pt>
                <c:pt idx="17">
                  <c:v>2.2000000000000001E-3</c:v>
                </c:pt>
                <c:pt idx="18">
                  <c:v>2.0999999999999999E-3</c:v>
                </c:pt>
                <c:pt idx="19">
                  <c:v>2.3999999999999998E-3</c:v>
                </c:pt>
                <c:pt idx="20">
                  <c:v>2.3E-3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54E-440F-BB94-20E6159A0E00}"/>
            </c:ext>
          </c:extLst>
        </c:ser>
        <c:ser>
          <c:idx val="0"/>
          <c:order val="1"/>
          <c:tx>
            <c:v>M = 20</c:v>
          </c:tx>
          <c:spPr>
            <a:ln w="28575" cap="rnd">
              <a:solidFill>
                <a:srgbClr val="00B0F0"/>
              </a:solidFill>
              <a:round/>
            </a:ln>
            <a:effectLst/>
          </c:spPr>
          <c:marker>
            <c:symbol val="none"/>
          </c:marker>
          <c:cat>
            <c:numRef>
              <c:f>List1!$T$5:$T$25</c:f>
              <c:numCache>
                <c:formatCode>General</c:formatCode>
                <c:ptCount val="21"/>
                <c:pt idx="0">
                  <c:v>1</c:v>
                </c:pt>
                <c:pt idx="1">
                  <c:v>5</c:v>
                </c:pt>
                <c:pt idx="2">
                  <c:v>10</c:v>
                </c:pt>
                <c:pt idx="3">
                  <c:v>15</c:v>
                </c:pt>
                <c:pt idx="4">
                  <c:v>20</c:v>
                </c:pt>
                <c:pt idx="5">
                  <c:v>25</c:v>
                </c:pt>
                <c:pt idx="6">
                  <c:v>30</c:v>
                </c:pt>
                <c:pt idx="7">
                  <c:v>35</c:v>
                </c:pt>
                <c:pt idx="8">
                  <c:v>40</c:v>
                </c:pt>
                <c:pt idx="9">
                  <c:v>45</c:v>
                </c:pt>
                <c:pt idx="10">
                  <c:v>50</c:v>
                </c:pt>
                <c:pt idx="11">
                  <c:v>55</c:v>
                </c:pt>
                <c:pt idx="12">
                  <c:v>60</c:v>
                </c:pt>
                <c:pt idx="13">
                  <c:v>65</c:v>
                </c:pt>
                <c:pt idx="14">
                  <c:v>70</c:v>
                </c:pt>
                <c:pt idx="15">
                  <c:v>75</c:v>
                </c:pt>
                <c:pt idx="16">
                  <c:v>80</c:v>
                </c:pt>
                <c:pt idx="17">
                  <c:v>85</c:v>
                </c:pt>
                <c:pt idx="18">
                  <c:v>90</c:v>
                </c:pt>
                <c:pt idx="19">
                  <c:v>95</c:v>
                </c:pt>
                <c:pt idx="20">
                  <c:v>100</c:v>
                </c:pt>
              </c:numCache>
            </c:numRef>
          </c:cat>
          <c:val>
            <c:numRef>
              <c:f>List1!$V$5:$V$25</c:f>
              <c:numCache>
                <c:formatCode>0.0000</c:formatCode>
                <c:ptCount val="21"/>
                <c:pt idx="0">
                  <c:v>0</c:v>
                </c:pt>
                <c:pt idx="1">
                  <c:v>2.0000000000000001E-4</c:v>
                </c:pt>
                <c:pt idx="2">
                  <c:v>5.9999999999999995E-4</c:v>
                </c:pt>
                <c:pt idx="3">
                  <c:v>6.9999999999999999E-4</c:v>
                </c:pt>
                <c:pt idx="4">
                  <c:v>8.9999999999999998E-4</c:v>
                </c:pt>
                <c:pt idx="5">
                  <c:v>1E-3</c:v>
                </c:pt>
                <c:pt idx="6">
                  <c:v>1.1999999999999999E-3</c:v>
                </c:pt>
                <c:pt idx="7">
                  <c:v>1.5E-3</c:v>
                </c:pt>
                <c:pt idx="8">
                  <c:v>1.6999999999999999E-3</c:v>
                </c:pt>
                <c:pt idx="9">
                  <c:v>1.8E-3</c:v>
                </c:pt>
                <c:pt idx="10">
                  <c:v>2E-3</c:v>
                </c:pt>
                <c:pt idx="11">
                  <c:v>2.3E-3</c:v>
                </c:pt>
                <c:pt idx="12">
                  <c:v>2.7000000000000001E-3</c:v>
                </c:pt>
                <c:pt idx="13">
                  <c:v>2.8E-3</c:v>
                </c:pt>
                <c:pt idx="14">
                  <c:v>2.5999999999999999E-3</c:v>
                </c:pt>
                <c:pt idx="15">
                  <c:v>3.0000000000000001E-3</c:v>
                </c:pt>
                <c:pt idx="16">
                  <c:v>3.5000000000000001E-3</c:v>
                </c:pt>
                <c:pt idx="17">
                  <c:v>3.8999999999999998E-3</c:v>
                </c:pt>
                <c:pt idx="18">
                  <c:v>3.3999999999999998E-3</c:v>
                </c:pt>
                <c:pt idx="19">
                  <c:v>3.3999999999999998E-3</c:v>
                </c:pt>
                <c:pt idx="20">
                  <c:v>3.3999999999999998E-3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54E-440F-BB94-20E6159A0E00}"/>
            </c:ext>
          </c:extLst>
        </c:ser>
        <c:ser>
          <c:idx val="1"/>
          <c:order val="2"/>
          <c:tx>
            <c:v>M = 50</c:v>
          </c:tx>
          <c:spPr>
            <a:ln w="28575" cap="rnd">
              <a:solidFill>
                <a:srgbClr val="00B050"/>
              </a:solidFill>
              <a:round/>
            </a:ln>
            <a:effectLst/>
          </c:spPr>
          <c:marker>
            <c:symbol val="none"/>
          </c:marker>
          <c:cat>
            <c:numRef>
              <c:f>List1!$T$5:$T$25</c:f>
              <c:numCache>
                <c:formatCode>General</c:formatCode>
                <c:ptCount val="21"/>
                <c:pt idx="0">
                  <c:v>1</c:v>
                </c:pt>
                <c:pt idx="1">
                  <c:v>5</c:v>
                </c:pt>
                <c:pt idx="2">
                  <c:v>10</c:v>
                </c:pt>
                <c:pt idx="3">
                  <c:v>15</c:v>
                </c:pt>
                <c:pt idx="4">
                  <c:v>20</c:v>
                </c:pt>
                <c:pt idx="5">
                  <c:v>25</c:v>
                </c:pt>
                <c:pt idx="6">
                  <c:v>30</c:v>
                </c:pt>
                <c:pt idx="7">
                  <c:v>35</c:v>
                </c:pt>
                <c:pt idx="8">
                  <c:v>40</c:v>
                </c:pt>
                <c:pt idx="9">
                  <c:v>45</c:v>
                </c:pt>
                <c:pt idx="10">
                  <c:v>50</c:v>
                </c:pt>
                <c:pt idx="11">
                  <c:v>55</c:v>
                </c:pt>
                <c:pt idx="12">
                  <c:v>60</c:v>
                </c:pt>
                <c:pt idx="13">
                  <c:v>65</c:v>
                </c:pt>
                <c:pt idx="14">
                  <c:v>70</c:v>
                </c:pt>
                <c:pt idx="15">
                  <c:v>75</c:v>
                </c:pt>
                <c:pt idx="16">
                  <c:v>80</c:v>
                </c:pt>
                <c:pt idx="17">
                  <c:v>85</c:v>
                </c:pt>
                <c:pt idx="18">
                  <c:v>90</c:v>
                </c:pt>
                <c:pt idx="19">
                  <c:v>95</c:v>
                </c:pt>
                <c:pt idx="20">
                  <c:v>100</c:v>
                </c:pt>
              </c:numCache>
            </c:numRef>
          </c:cat>
          <c:val>
            <c:numRef>
              <c:f>List1!$W$5:$W$25</c:f>
              <c:numCache>
                <c:formatCode>0.0000</c:formatCode>
                <c:ptCount val="21"/>
                <c:pt idx="0">
                  <c:v>1E-4</c:v>
                </c:pt>
                <c:pt idx="1">
                  <c:v>2.9999999999999997E-4</c:v>
                </c:pt>
                <c:pt idx="2">
                  <c:v>2.9999999999999997E-4</c:v>
                </c:pt>
                <c:pt idx="3">
                  <c:v>8.0000000000000004E-4</c:v>
                </c:pt>
                <c:pt idx="4">
                  <c:v>1E-3</c:v>
                </c:pt>
                <c:pt idx="5">
                  <c:v>1E-3</c:v>
                </c:pt>
                <c:pt idx="6">
                  <c:v>1.1999999999999999E-3</c:v>
                </c:pt>
                <c:pt idx="7">
                  <c:v>1.1000000000000001E-3</c:v>
                </c:pt>
                <c:pt idx="8">
                  <c:v>1.6999999999999999E-3</c:v>
                </c:pt>
                <c:pt idx="9">
                  <c:v>1.9E-3</c:v>
                </c:pt>
                <c:pt idx="10">
                  <c:v>2E-3</c:v>
                </c:pt>
                <c:pt idx="11">
                  <c:v>2.2000000000000001E-3</c:v>
                </c:pt>
                <c:pt idx="12">
                  <c:v>2.2000000000000001E-3</c:v>
                </c:pt>
                <c:pt idx="13">
                  <c:v>2.5999999999999999E-3</c:v>
                </c:pt>
                <c:pt idx="14">
                  <c:v>2.8E-3</c:v>
                </c:pt>
                <c:pt idx="15">
                  <c:v>3.0000000000000001E-3</c:v>
                </c:pt>
                <c:pt idx="16">
                  <c:v>3.3999999999999998E-3</c:v>
                </c:pt>
                <c:pt idx="17">
                  <c:v>3.5000000000000001E-3</c:v>
                </c:pt>
                <c:pt idx="18">
                  <c:v>3.8E-3</c:v>
                </c:pt>
                <c:pt idx="19">
                  <c:v>4.5999999999999999E-3</c:v>
                </c:pt>
                <c:pt idx="20">
                  <c:v>4.7999999999999996E-3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154E-440F-BB94-20E6159A0E00}"/>
            </c:ext>
          </c:extLst>
        </c:ser>
        <c:ser>
          <c:idx val="2"/>
          <c:order val="3"/>
          <c:tx>
            <c:v>M = 100</c:v>
          </c:tx>
          <c:spPr>
            <a:ln w="28575" cap="rnd">
              <a:solidFill>
                <a:srgbClr val="FFC000"/>
              </a:solidFill>
              <a:round/>
            </a:ln>
            <a:effectLst/>
          </c:spPr>
          <c:marker>
            <c:symbol val="none"/>
          </c:marker>
          <c:cat>
            <c:numRef>
              <c:f>List1!$T$5:$T$25</c:f>
              <c:numCache>
                <c:formatCode>General</c:formatCode>
                <c:ptCount val="21"/>
                <c:pt idx="0">
                  <c:v>1</c:v>
                </c:pt>
                <c:pt idx="1">
                  <c:v>5</c:v>
                </c:pt>
                <c:pt idx="2">
                  <c:v>10</c:v>
                </c:pt>
                <c:pt idx="3">
                  <c:v>15</c:v>
                </c:pt>
                <c:pt idx="4">
                  <c:v>20</c:v>
                </c:pt>
                <c:pt idx="5">
                  <c:v>25</c:v>
                </c:pt>
                <c:pt idx="6">
                  <c:v>30</c:v>
                </c:pt>
                <c:pt idx="7">
                  <c:v>35</c:v>
                </c:pt>
                <c:pt idx="8">
                  <c:v>40</c:v>
                </c:pt>
                <c:pt idx="9">
                  <c:v>45</c:v>
                </c:pt>
                <c:pt idx="10">
                  <c:v>50</c:v>
                </c:pt>
                <c:pt idx="11">
                  <c:v>55</c:v>
                </c:pt>
                <c:pt idx="12">
                  <c:v>60</c:v>
                </c:pt>
                <c:pt idx="13">
                  <c:v>65</c:v>
                </c:pt>
                <c:pt idx="14">
                  <c:v>70</c:v>
                </c:pt>
                <c:pt idx="15">
                  <c:v>75</c:v>
                </c:pt>
                <c:pt idx="16">
                  <c:v>80</c:v>
                </c:pt>
                <c:pt idx="17">
                  <c:v>85</c:v>
                </c:pt>
                <c:pt idx="18">
                  <c:v>90</c:v>
                </c:pt>
                <c:pt idx="19">
                  <c:v>95</c:v>
                </c:pt>
                <c:pt idx="20">
                  <c:v>100</c:v>
                </c:pt>
              </c:numCache>
            </c:numRef>
          </c:cat>
          <c:val>
            <c:numRef>
              <c:f>List1!$X$5:$X$25</c:f>
              <c:numCache>
                <c:formatCode>0.0000</c:formatCode>
                <c:ptCount val="21"/>
                <c:pt idx="0">
                  <c:v>1E-4</c:v>
                </c:pt>
                <c:pt idx="1">
                  <c:v>2.9999999999999997E-4</c:v>
                </c:pt>
                <c:pt idx="2">
                  <c:v>1E-4</c:v>
                </c:pt>
                <c:pt idx="3">
                  <c:v>6.9999999999999999E-4</c:v>
                </c:pt>
                <c:pt idx="4">
                  <c:v>1.2999999999999999E-3</c:v>
                </c:pt>
                <c:pt idx="5">
                  <c:v>1.1000000000000001E-3</c:v>
                </c:pt>
                <c:pt idx="6">
                  <c:v>1.2999999999999999E-3</c:v>
                </c:pt>
                <c:pt idx="7">
                  <c:v>1.8E-3</c:v>
                </c:pt>
                <c:pt idx="8">
                  <c:v>1.6000000000000001E-3</c:v>
                </c:pt>
                <c:pt idx="9">
                  <c:v>2E-3</c:v>
                </c:pt>
                <c:pt idx="10">
                  <c:v>2E-3</c:v>
                </c:pt>
                <c:pt idx="11">
                  <c:v>2.2000000000000001E-3</c:v>
                </c:pt>
                <c:pt idx="12">
                  <c:v>2.3E-3</c:v>
                </c:pt>
                <c:pt idx="13">
                  <c:v>3.0000000000000001E-3</c:v>
                </c:pt>
                <c:pt idx="14">
                  <c:v>3.0000000000000001E-3</c:v>
                </c:pt>
                <c:pt idx="15">
                  <c:v>3.5000000000000001E-3</c:v>
                </c:pt>
                <c:pt idx="16">
                  <c:v>3.3E-3</c:v>
                </c:pt>
                <c:pt idx="17">
                  <c:v>3.7000000000000002E-3</c:v>
                </c:pt>
                <c:pt idx="18">
                  <c:v>4.4999999999999997E-3</c:v>
                </c:pt>
                <c:pt idx="19">
                  <c:v>4.1000000000000003E-3</c:v>
                </c:pt>
                <c:pt idx="20">
                  <c:v>4.3E-3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154E-440F-BB94-20E6159A0E0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675245712"/>
        <c:axId val="675242800"/>
      </c:lineChart>
      <c:catAx>
        <c:axId val="6752457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sr-Latn-RS"/>
          </a:p>
        </c:txPr>
        <c:crossAx val="675242800"/>
        <c:crosses val="autoZero"/>
        <c:auto val="1"/>
        <c:lblAlgn val="ctr"/>
        <c:lblOffset val="100"/>
        <c:noMultiLvlLbl val="0"/>
      </c:catAx>
      <c:valAx>
        <c:axId val="67524280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sr-Latn-RS"/>
          </a:p>
        </c:txPr>
        <c:crossAx val="67524571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sr-Latn-R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8A578CD-71F5-4DC8-BE56-40CA24914A43}" type="doc">
      <dgm:prSet loTypeId="urn:microsoft.com/office/officeart/2008/layout/HalfCircleOrganizationChart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hr-HR"/>
        </a:p>
      </dgm:t>
    </dgm:pt>
    <dgm:pt modelId="{DBECE907-0098-4253-98F9-4C91A6DFC575}">
      <dgm:prSet phldrT="[Tekst]"/>
      <dgm:spPr/>
      <dgm:t>
        <a:bodyPr/>
        <a:lstStyle/>
        <a:p>
          <a:r>
            <a:rPr lang="hr-HR" dirty="0">
              <a:solidFill>
                <a:srgbClr val="002060"/>
              </a:solidFill>
            </a:rPr>
            <a:t>KMP ALGORITAM</a:t>
          </a:r>
        </a:p>
      </dgm:t>
    </dgm:pt>
    <dgm:pt modelId="{0755F0FF-E0FE-481C-8445-E0BB08A147E6}" type="parTrans" cxnId="{0D3DD0A4-3CDF-4FD5-88BF-690F62D8B493}">
      <dgm:prSet/>
      <dgm:spPr/>
      <dgm:t>
        <a:bodyPr/>
        <a:lstStyle/>
        <a:p>
          <a:endParaRPr lang="hr-HR"/>
        </a:p>
      </dgm:t>
    </dgm:pt>
    <dgm:pt modelId="{11DD2338-6EFC-46A3-A8ED-76C60DEF77C3}" type="sibTrans" cxnId="{0D3DD0A4-3CDF-4FD5-88BF-690F62D8B493}">
      <dgm:prSet/>
      <dgm:spPr/>
      <dgm:t>
        <a:bodyPr/>
        <a:lstStyle/>
        <a:p>
          <a:endParaRPr lang="hr-HR"/>
        </a:p>
      </dgm:t>
    </dgm:pt>
    <dgm:pt modelId="{A45775E6-0BCD-406D-8570-9128067318E5}">
      <dgm:prSet phldrT="[Tekst]" custT="1"/>
      <dgm:spPr/>
      <dgm:t>
        <a:bodyPr/>
        <a:lstStyle/>
        <a:p>
          <a:r>
            <a:rPr lang="hr-HR" sz="3100" dirty="0" err="1">
              <a:solidFill>
                <a:srgbClr val="002060"/>
              </a:solidFill>
            </a:rPr>
            <a:t>Pretprocesiranje</a:t>
          </a:r>
          <a:endParaRPr lang="hr-HR" sz="3100" dirty="0">
            <a:solidFill>
              <a:srgbClr val="002060"/>
            </a:solidFill>
          </a:endParaRPr>
        </a:p>
        <a:p>
          <a:r>
            <a:rPr lang="hr-HR" sz="2000" dirty="0">
              <a:solidFill>
                <a:srgbClr val="002060"/>
              </a:solidFill>
            </a:rPr>
            <a:t>Izgradnja polja </a:t>
          </a:r>
          <a:r>
            <a:rPr lang="hr-HR" sz="2000" dirty="0" err="1">
              <a:solidFill>
                <a:srgbClr val="002060"/>
              </a:solidFill>
            </a:rPr>
            <a:t>lps</a:t>
          </a:r>
          <a:endParaRPr lang="hr-HR" sz="2000" dirty="0">
            <a:solidFill>
              <a:srgbClr val="002060"/>
            </a:solidFill>
          </a:endParaRPr>
        </a:p>
      </dgm:t>
    </dgm:pt>
    <dgm:pt modelId="{88E3F4C4-287B-43AC-923C-C11A8D445EDE}" type="parTrans" cxnId="{FB52AD7B-9B51-4057-B989-4F30D5F0AF69}">
      <dgm:prSet/>
      <dgm:spPr/>
      <dgm:t>
        <a:bodyPr/>
        <a:lstStyle/>
        <a:p>
          <a:endParaRPr lang="hr-HR"/>
        </a:p>
      </dgm:t>
    </dgm:pt>
    <dgm:pt modelId="{1B2E012D-344F-459C-8CFB-9C1C6F67AB59}" type="sibTrans" cxnId="{FB52AD7B-9B51-4057-B989-4F30D5F0AF69}">
      <dgm:prSet/>
      <dgm:spPr/>
      <dgm:t>
        <a:bodyPr/>
        <a:lstStyle/>
        <a:p>
          <a:endParaRPr lang="hr-HR"/>
        </a:p>
      </dgm:t>
    </dgm:pt>
    <dgm:pt modelId="{FA69152D-4243-49E7-AC38-A5586D4B31C2}">
      <dgm:prSet phldrT="[Tekst]" custT="1"/>
      <dgm:spPr/>
      <dgm:t>
        <a:bodyPr/>
        <a:lstStyle/>
        <a:p>
          <a:r>
            <a:rPr lang="hr-HR" sz="3100" dirty="0">
              <a:solidFill>
                <a:srgbClr val="002060"/>
              </a:solidFill>
            </a:rPr>
            <a:t>Pretraživanje</a:t>
          </a:r>
        </a:p>
        <a:p>
          <a:r>
            <a:rPr lang="hr-HR" sz="2000" dirty="0">
              <a:solidFill>
                <a:srgbClr val="002060"/>
              </a:solidFill>
            </a:rPr>
            <a:t>funkcija KMP</a:t>
          </a:r>
        </a:p>
      </dgm:t>
    </dgm:pt>
    <dgm:pt modelId="{7F920872-1E13-42C5-AD5E-49BF20B91AC9}" type="parTrans" cxnId="{59D1D67A-A74C-4D39-92C5-078C9DBFD115}">
      <dgm:prSet/>
      <dgm:spPr/>
      <dgm:t>
        <a:bodyPr/>
        <a:lstStyle/>
        <a:p>
          <a:endParaRPr lang="hr-HR"/>
        </a:p>
      </dgm:t>
    </dgm:pt>
    <dgm:pt modelId="{CD171CDC-8C23-489D-8F16-FA79E0CBE4B4}" type="sibTrans" cxnId="{59D1D67A-A74C-4D39-92C5-078C9DBFD115}">
      <dgm:prSet/>
      <dgm:spPr/>
      <dgm:t>
        <a:bodyPr/>
        <a:lstStyle/>
        <a:p>
          <a:endParaRPr lang="hr-HR"/>
        </a:p>
      </dgm:t>
    </dgm:pt>
    <dgm:pt modelId="{8AA6A86B-DE1C-4576-AF35-B92E36D37E86}" type="pres">
      <dgm:prSet presAssocID="{08A578CD-71F5-4DC8-BE56-40CA24914A43}" presName="Name0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33197343-ACCC-4016-AA1A-7A904EF3B788}" type="pres">
      <dgm:prSet presAssocID="{DBECE907-0098-4253-98F9-4C91A6DFC575}" presName="hierRoot1" presStyleCnt="0">
        <dgm:presLayoutVars>
          <dgm:hierBranch val="init"/>
        </dgm:presLayoutVars>
      </dgm:prSet>
      <dgm:spPr/>
    </dgm:pt>
    <dgm:pt modelId="{771D4B60-6273-4790-AB0A-38A69CDA05FD}" type="pres">
      <dgm:prSet presAssocID="{DBECE907-0098-4253-98F9-4C91A6DFC575}" presName="rootComposite1" presStyleCnt="0"/>
      <dgm:spPr/>
    </dgm:pt>
    <dgm:pt modelId="{67217486-1018-4416-A07B-8359FCBC8292}" type="pres">
      <dgm:prSet presAssocID="{DBECE907-0098-4253-98F9-4C91A6DFC575}" presName="rootText1" presStyleLbl="alignAcc1" presStyleIdx="0" presStyleCnt="0">
        <dgm:presLayoutVars>
          <dgm:chPref val="3"/>
        </dgm:presLayoutVars>
      </dgm:prSet>
      <dgm:spPr/>
    </dgm:pt>
    <dgm:pt modelId="{CC30C4D2-C94F-48E0-ADB6-9C2F63F27CE1}" type="pres">
      <dgm:prSet presAssocID="{DBECE907-0098-4253-98F9-4C91A6DFC575}" presName="topArc1" presStyleLbl="parChTrans1D1" presStyleIdx="0" presStyleCnt="6"/>
      <dgm:spPr/>
    </dgm:pt>
    <dgm:pt modelId="{250D8B0C-DEC8-40B6-824B-640D5AD4341C}" type="pres">
      <dgm:prSet presAssocID="{DBECE907-0098-4253-98F9-4C91A6DFC575}" presName="bottomArc1" presStyleLbl="parChTrans1D1" presStyleIdx="1" presStyleCnt="6"/>
      <dgm:spPr/>
    </dgm:pt>
    <dgm:pt modelId="{434778C6-1185-4929-90AA-A2330EA97262}" type="pres">
      <dgm:prSet presAssocID="{DBECE907-0098-4253-98F9-4C91A6DFC575}" presName="topConnNode1" presStyleLbl="node1" presStyleIdx="0" presStyleCnt="0"/>
      <dgm:spPr/>
    </dgm:pt>
    <dgm:pt modelId="{15AD0851-3F35-42D5-B529-DFF9F02DFCE5}" type="pres">
      <dgm:prSet presAssocID="{DBECE907-0098-4253-98F9-4C91A6DFC575}" presName="hierChild2" presStyleCnt="0"/>
      <dgm:spPr/>
    </dgm:pt>
    <dgm:pt modelId="{FB6D5DE9-79BA-4B9B-B296-FD806170F666}" type="pres">
      <dgm:prSet presAssocID="{88E3F4C4-287B-43AC-923C-C11A8D445EDE}" presName="Name28" presStyleLbl="parChTrans1D2" presStyleIdx="0" presStyleCnt="2"/>
      <dgm:spPr/>
    </dgm:pt>
    <dgm:pt modelId="{6FFA4D23-3AFB-43FC-B20E-98C1921056E1}" type="pres">
      <dgm:prSet presAssocID="{A45775E6-0BCD-406D-8570-9128067318E5}" presName="hierRoot2" presStyleCnt="0">
        <dgm:presLayoutVars>
          <dgm:hierBranch val="init"/>
        </dgm:presLayoutVars>
      </dgm:prSet>
      <dgm:spPr/>
    </dgm:pt>
    <dgm:pt modelId="{361CDEBC-4675-49F9-846D-E423DBB89C2A}" type="pres">
      <dgm:prSet presAssocID="{A45775E6-0BCD-406D-8570-9128067318E5}" presName="rootComposite2" presStyleCnt="0"/>
      <dgm:spPr/>
    </dgm:pt>
    <dgm:pt modelId="{05059AD5-BAD1-4ADD-BE68-64A55AC27551}" type="pres">
      <dgm:prSet presAssocID="{A45775E6-0BCD-406D-8570-9128067318E5}" presName="rootText2" presStyleLbl="alignAcc1" presStyleIdx="0" presStyleCnt="0">
        <dgm:presLayoutVars>
          <dgm:chPref val="3"/>
        </dgm:presLayoutVars>
      </dgm:prSet>
      <dgm:spPr/>
    </dgm:pt>
    <dgm:pt modelId="{086450F1-F648-4223-9821-6611D3B9701C}" type="pres">
      <dgm:prSet presAssocID="{A45775E6-0BCD-406D-8570-9128067318E5}" presName="topArc2" presStyleLbl="parChTrans1D1" presStyleIdx="2" presStyleCnt="6"/>
      <dgm:spPr/>
    </dgm:pt>
    <dgm:pt modelId="{64F6080A-FFBF-4A1D-9906-599FA8ACC99C}" type="pres">
      <dgm:prSet presAssocID="{A45775E6-0BCD-406D-8570-9128067318E5}" presName="bottomArc2" presStyleLbl="parChTrans1D1" presStyleIdx="3" presStyleCnt="6"/>
      <dgm:spPr/>
    </dgm:pt>
    <dgm:pt modelId="{8A965D01-C8EC-4D14-B555-11742A766A1B}" type="pres">
      <dgm:prSet presAssocID="{A45775E6-0BCD-406D-8570-9128067318E5}" presName="topConnNode2" presStyleLbl="node2" presStyleIdx="0" presStyleCnt="0"/>
      <dgm:spPr/>
    </dgm:pt>
    <dgm:pt modelId="{0E016A35-1143-4F07-9DFA-67F90FF9C596}" type="pres">
      <dgm:prSet presAssocID="{A45775E6-0BCD-406D-8570-9128067318E5}" presName="hierChild4" presStyleCnt="0"/>
      <dgm:spPr/>
    </dgm:pt>
    <dgm:pt modelId="{E61C0100-95AA-41C5-807D-36222321D048}" type="pres">
      <dgm:prSet presAssocID="{A45775E6-0BCD-406D-8570-9128067318E5}" presName="hierChild5" presStyleCnt="0"/>
      <dgm:spPr/>
    </dgm:pt>
    <dgm:pt modelId="{6A76B9FC-6AC7-4778-B264-22325F8B637F}" type="pres">
      <dgm:prSet presAssocID="{7F920872-1E13-42C5-AD5E-49BF20B91AC9}" presName="Name28" presStyleLbl="parChTrans1D2" presStyleIdx="1" presStyleCnt="2"/>
      <dgm:spPr/>
    </dgm:pt>
    <dgm:pt modelId="{CF163E28-5C8E-422C-9AEC-3F85C45B9D9F}" type="pres">
      <dgm:prSet presAssocID="{FA69152D-4243-49E7-AC38-A5586D4B31C2}" presName="hierRoot2" presStyleCnt="0">
        <dgm:presLayoutVars>
          <dgm:hierBranch val="init"/>
        </dgm:presLayoutVars>
      </dgm:prSet>
      <dgm:spPr/>
    </dgm:pt>
    <dgm:pt modelId="{8521EFFE-9CBC-4C9B-A8DA-11011DBB1B0F}" type="pres">
      <dgm:prSet presAssocID="{FA69152D-4243-49E7-AC38-A5586D4B31C2}" presName="rootComposite2" presStyleCnt="0"/>
      <dgm:spPr/>
    </dgm:pt>
    <dgm:pt modelId="{08E79C94-ACFA-4384-8BFF-A0469446732D}" type="pres">
      <dgm:prSet presAssocID="{FA69152D-4243-49E7-AC38-A5586D4B31C2}" presName="rootText2" presStyleLbl="alignAcc1" presStyleIdx="0" presStyleCnt="0">
        <dgm:presLayoutVars>
          <dgm:chPref val="3"/>
        </dgm:presLayoutVars>
      </dgm:prSet>
      <dgm:spPr/>
    </dgm:pt>
    <dgm:pt modelId="{4C0C5A7A-641D-4E26-A8B9-ABFB1BE67FC3}" type="pres">
      <dgm:prSet presAssocID="{FA69152D-4243-49E7-AC38-A5586D4B31C2}" presName="topArc2" presStyleLbl="parChTrans1D1" presStyleIdx="4" presStyleCnt="6"/>
      <dgm:spPr/>
    </dgm:pt>
    <dgm:pt modelId="{2EAB8392-22BD-4B20-B6B0-76DC7EB6BD0E}" type="pres">
      <dgm:prSet presAssocID="{FA69152D-4243-49E7-AC38-A5586D4B31C2}" presName="bottomArc2" presStyleLbl="parChTrans1D1" presStyleIdx="5" presStyleCnt="6"/>
      <dgm:spPr/>
    </dgm:pt>
    <dgm:pt modelId="{65219922-4C1E-457C-9D3D-39BA74B4493C}" type="pres">
      <dgm:prSet presAssocID="{FA69152D-4243-49E7-AC38-A5586D4B31C2}" presName="topConnNode2" presStyleLbl="node2" presStyleIdx="0" presStyleCnt="0"/>
      <dgm:spPr/>
    </dgm:pt>
    <dgm:pt modelId="{CA506409-4F7B-4F16-A87D-6A3B2F1D186F}" type="pres">
      <dgm:prSet presAssocID="{FA69152D-4243-49E7-AC38-A5586D4B31C2}" presName="hierChild4" presStyleCnt="0"/>
      <dgm:spPr/>
    </dgm:pt>
    <dgm:pt modelId="{8A75B3F3-6A6D-4BF8-8E4A-2DA4B660A04C}" type="pres">
      <dgm:prSet presAssocID="{FA69152D-4243-49E7-AC38-A5586D4B31C2}" presName="hierChild5" presStyleCnt="0"/>
      <dgm:spPr/>
    </dgm:pt>
    <dgm:pt modelId="{126299DA-E744-41A2-B4C4-465152BDF07C}" type="pres">
      <dgm:prSet presAssocID="{DBECE907-0098-4253-98F9-4C91A6DFC575}" presName="hierChild3" presStyleCnt="0"/>
      <dgm:spPr/>
    </dgm:pt>
  </dgm:ptLst>
  <dgm:cxnLst>
    <dgm:cxn modelId="{2CAC5F12-5C5B-4497-88A4-ACB75DFD9FF3}" type="presOf" srcId="{88E3F4C4-287B-43AC-923C-C11A8D445EDE}" destId="{FB6D5DE9-79BA-4B9B-B296-FD806170F666}" srcOrd="0" destOrd="0" presId="urn:microsoft.com/office/officeart/2008/layout/HalfCircleOrganizationChart"/>
    <dgm:cxn modelId="{3C976232-3A52-4408-8593-3A48CA805B94}" type="presOf" srcId="{08A578CD-71F5-4DC8-BE56-40CA24914A43}" destId="{8AA6A86B-DE1C-4576-AF35-B92E36D37E86}" srcOrd="0" destOrd="0" presId="urn:microsoft.com/office/officeart/2008/layout/HalfCircleOrganizationChart"/>
    <dgm:cxn modelId="{9EA8DF37-4A9C-4F33-8589-8F23946E5893}" type="presOf" srcId="{FA69152D-4243-49E7-AC38-A5586D4B31C2}" destId="{65219922-4C1E-457C-9D3D-39BA74B4493C}" srcOrd="1" destOrd="0" presId="urn:microsoft.com/office/officeart/2008/layout/HalfCircleOrganizationChart"/>
    <dgm:cxn modelId="{A0F8784F-E9AD-4090-9EE5-6A8FB03029B0}" type="presOf" srcId="{A45775E6-0BCD-406D-8570-9128067318E5}" destId="{05059AD5-BAD1-4ADD-BE68-64A55AC27551}" srcOrd="0" destOrd="0" presId="urn:microsoft.com/office/officeart/2008/layout/HalfCircleOrganizationChart"/>
    <dgm:cxn modelId="{E8F6B359-C7DF-4686-B693-C533A631C2AF}" type="presOf" srcId="{7F920872-1E13-42C5-AD5E-49BF20B91AC9}" destId="{6A76B9FC-6AC7-4778-B264-22325F8B637F}" srcOrd="0" destOrd="0" presId="urn:microsoft.com/office/officeart/2008/layout/HalfCircleOrganizationChart"/>
    <dgm:cxn modelId="{59D1D67A-A74C-4D39-92C5-078C9DBFD115}" srcId="{DBECE907-0098-4253-98F9-4C91A6DFC575}" destId="{FA69152D-4243-49E7-AC38-A5586D4B31C2}" srcOrd="1" destOrd="0" parTransId="{7F920872-1E13-42C5-AD5E-49BF20B91AC9}" sibTransId="{CD171CDC-8C23-489D-8F16-FA79E0CBE4B4}"/>
    <dgm:cxn modelId="{FB52AD7B-9B51-4057-B989-4F30D5F0AF69}" srcId="{DBECE907-0098-4253-98F9-4C91A6DFC575}" destId="{A45775E6-0BCD-406D-8570-9128067318E5}" srcOrd="0" destOrd="0" parTransId="{88E3F4C4-287B-43AC-923C-C11A8D445EDE}" sibTransId="{1B2E012D-344F-459C-8CFB-9C1C6F67AB59}"/>
    <dgm:cxn modelId="{0D3DD0A4-3CDF-4FD5-88BF-690F62D8B493}" srcId="{08A578CD-71F5-4DC8-BE56-40CA24914A43}" destId="{DBECE907-0098-4253-98F9-4C91A6DFC575}" srcOrd="0" destOrd="0" parTransId="{0755F0FF-E0FE-481C-8445-E0BB08A147E6}" sibTransId="{11DD2338-6EFC-46A3-A8ED-76C60DEF77C3}"/>
    <dgm:cxn modelId="{87CFC2AA-E8C4-4ADB-8AD9-EE69CDE6C57D}" type="presOf" srcId="{FA69152D-4243-49E7-AC38-A5586D4B31C2}" destId="{08E79C94-ACFA-4384-8BFF-A0469446732D}" srcOrd="0" destOrd="0" presId="urn:microsoft.com/office/officeart/2008/layout/HalfCircleOrganizationChart"/>
    <dgm:cxn modelId="{AFE94DBA-657A-4F16-B7E9-8110FD8CEA2D}" type="presOf" srcId="{A45775E6-0BCD-406D-8570-9128067318E5}" destId="{8A965D01-C8EC-4D14-B555-11742A766A1B}" srcOrd="1" destOrd="0" presId="urn:microsoft.com/office/officeart/2008/layout/HalfCircleOrganizationChart"/>
    <dgm:cxn modelId="{5BEE0FDC-AECC-4134-8705-E34D90E573A4}" type="presOf" srcId="{DBECE907-0098-4253-98F9-4C91A6DFC575}" destId="{434778C6-1185-4929-90AA-A2330EA97262}" srcOrd="1" destOrd="0" presId="urn:microsoft.com/office/officeart/2008/layout/HalfCircleOrganizationChart"/>
    <dgm:cxn modelId="{7D45E2EF-D2F2-4F0E-A1D1-5C9D7C0F662E}" type="presOf" srcId="{DBECE907-0098-4253-98F9-4C91A6DFC575}" destId="{67217486-1018-4416-A07B-8359FCBC8292}" srcOrd="0" destOrd="0" presId="urn:microsoft.com/office/officeart/2008/layout/HalfCircleOrganizationChart"/>
    <dgm:cxn modelId="{60EA0786-990B-4AAE-9565-21F5D465BEDA}" type="presParOf" srcId="{8AA6A86B-DE1C-4576-AF35-B92E36D37E86}" destId="{33197343-ACCC-4016-AA1A-7A904EF3B788}" srcOrd="0" destOrd="0" presId="urn:microsoft.com/office/officeart/2008/layout/HalfCircleOrganizationChart"/>
    <dgm:cxn modelId="{26D0B7C1-1085-4519-A46A-352586F2BB54}" type="presParOf" srcId="{33197343-ACCC-4016-AA1A-7A904EF3B788}" destId="{771D4B60-6273-4790-AB0A-38A69CDA05FD}" srcOrd="0" destOrd="0" presId="urn:microsoft.com/office/officeart/2008/layout/HalfCircleOrganizationChart"/>
    <dgm:cxn modelId="{0C8A87EA-09E9-4BBF-A0E7-086E27C0F5BE}" type="presParOf" srcId="{771D4B60-6273-4790-AB0A-38A69CDA05FD}" destId="{67217486-1018-4416-A07B-8359FCBC8292}" srcOrd="0" destOrd="0" presId="urn:microsoft.com/office/officeart/2008/layout/HalfCircleOrganizationChart"/>
    <dgm:cxn modelId="{D2B956D7-8841-40DF-9490-968C57FE8880}" type="presParOf" srcId="{771D4B60-6273-4790-AB0A-38A69CDA05FD}" destId="{CC30C4D2-C94F-48E0-ADB6-9C2F63F27CE1}" srcOrd="1" destOrd="0" presId="urn:microsoft.com/office/officeart/2008/layout/HalfCircleOrganizationChart"/>
    <dgm:cxn modelId="{1CBCF472-539A-4A15-9895-B3E7CA3E42D5}" type="presParOf" srcId="{771D4B60-6273-4790-AB0A-38A69CDA05FD}" destId="{250D8B0C-DEC8-40B6-824B-640D5AD4341C}" srcOrd="2" destOrd="0" presId="urn:microsoft.com/office/officeart/2008/layout/HalfCircleOrganizationChart"/>
    <dgm:cxn modelId="{42DF6F9B-3ADA-467C-97CB-EF396F05A199}" type="presParOf" srcId="{771D4B60-6273-4790-AB0A-38A69CDA05FD}" destId="{434778C6-1185-4929-90AA-A2330EA97262}" srcOrd="3" destOrd="0" presId="urn:microsoft.com/office/officeart/2008/layout/HalfCircleOrganizationChart"/>
    <dgm:cxn modelId="{DC0D51D5-7FB1-4BCA-B43D-BB6D662B109D}" type="presParOf" srcId="{33197343-ACCC-4016-AA1A-7A904EF3B788}" destId="{15AD0851-3F35-42D5-B529-DFF9F02DFCE5}" srcOrd="1" destOrd="0" presId="urn:microsoft.com/office/officeart/2008/layout/HalfCircleOrganizationChart"/>
    <dgm:cxn modelId="{6B161B54-E681-4234-B2F1-69CA0281F5C1}" type="presParOf" srcId="{15AD0851-3F35-42D5-B529-DFF9F02DFCE5}" destId="{FB6D5DE9-79BA-4B9B-B296-FD806170F666}" srcOrd="0" destOrd="0" presId="urn:microsoft.com/office/officeart/2008/layout/HalfCircleOrganizationChart"/>
    <dgm:cxn modelId="{96AD37CB-1514-4DDF-A025-124218B1EF65}" type="presParOf" srcId="{15AD0851-3F35-42D5-B529-DFF9F02DFCE5}" destId="{6FFA4D23-3AFB-43FC-B20E-98C1921056E1}" srcOrd="1" destOrd="0" presId="urn:microsoft.com/office/officeart/2008/layout/HalfCircleOrganizationChart"/>
    <dgm:cxn modelId="{2B2CA32C-1594-4DE6-91DD-2E08013FC785}" type="presParOf" srcId="{6FFA4D23-3AFB-43FC-B20E-98C1921056E1}" destId="{361CDEBC-4675-49F9-846D-E423DBB89C2A}" srcOrd="0" destOrd="0" presId="urn:microsoft.com/office/officeart/2008/layout/HalfCircleOrganizationChart"/>
    <dgm:cxn modelId="{4A3B83A8-E250-412C-89A6-97E5456BD1BA}" type="presParOf" srcId="{361CDEBC-4675-49F9-846D-E423DBB89C2A}" destId="{05059AD5-BAD1-4ADD-BE68-64A55AC27551}" srcOrd="0" destOrd="0" presId="urn:microsoft.com/office/officeart/2008/layout/HalfCircleOrganizationChart"/>
    <dgm:cxn modelId="{3B9F35DB-DC15-4816-9952-493C4352B09E}" type="presParOf" srcId="{361CDEBC-4675-49F9-846D-E423DBB89C2A}" destId="{086450F1-F648-4223-9821-6611D3B9701C}" srcOrd="1" destOrd="0" presId="urn:microsoft.com/office/officeart/2008/layout/HalfCircleOrganizationChart"/>
    <dgm:cxn modelId="{A3E34369-9500-47E6-8246-28DC84FC8699}" type="presParOf" srcId="{361CDEBC-4675-49F9-846D-E423DBB89C2A}" destId="{64F6080A-FFBF-4A1D-9906-599FA8ACC99C}" srcOrd="2" destOrd="0" presId="urn:microsoft.com/office/officeart/2008/layout/HalfCircleOrganizationChart"/>
    <dgm:cxn modelId="{DD3BE506-8522-474C-BEC4-8AB03519E2FF}" type="presParOf" srcId="{361CDEBC-4675-49F9-846D-E423DBB89C2A}" destId="{8A965D01-C8EC-4D14-B555-11742A766A1B}" srcOrd="3" destOrd="0" presId="urn:microsoft.com/office/officeart/2008/layout/HalfCircleOrganizationChart"/>
    <dgm:cxn modelId="{68C0346D-D779-4409-9118-06EBFE781FB5}" type="presParOf" srcId="{6FFA4D23-3AFB-43FC-B20E-98C1921056E1}" destId="{0E016A35-1143-4F07-9DFA-67F90FF9C596}" srcOrd="1" destOrd="0" presId="urn:microsoft.com/office/officeart/2008/layout/HalfCircleOrganizationChart"/>
    <dgm:cxn modelId="{CD41B45F-B40E-4032-A233-651A4D55FE64}" type="presParOf" srcId="{6FFA4D23-3AFB-43FC-B20E-98C1921056E1}" destId="{E61C0100-95AA-41C5-807D-36222321D048}" srcOrd="2" destOrd="0" presId="urn:microsoft.com/office/officeart/2008/layout/HalfCircleOrganizationChart"/>
    <dgm:cxn modelId="{5FC3C5D2-94E6-457C-8465-4F4ECD2ABB30}" type="presParOf" srcId="{15AD0851-3F35-42D5-B529-DFF9F02DFCE5}" destId="{6A76B9FC-6AC7-4778-B264-22325F8B637F}" srcOrd="2" destOrd="0" presId="urn:microsoft.com/office/officeart/2008/layout/HalfCircleOrganizationChart"/>
    <dgm:cxn modelId="{2B78BE8A-8FDA-4353-AEDE-4E90805B387F}" type="presParOf" srcId="{15AD0851-3F35-42D5-B529-DFF9F02DFCE5}" destId="{CF163E28-5C8E-422C-9AEC-3F85C45B9D9F}" srcOrd="3" destOrd="0" presId="urn:microsoft.com/office/officeart/2008/layout/HalfCircleOrganizationChart"/>
    <dgm:cxn modelId="{408762B7-5111-4818-AB82-4901D217DB79}" type="presParOf" srcId="{CF163E28-5C8E-422C-9AEC-3F85C45B9D9F}" destId="{8521EFFE-9CBC-4C9B-A8DA-11011DBB1B0F}" srcOrd="0" destOrd="0" presId="urn:microsoft.com/office/officeart/2008/layout/HalfCircleOrganizationChart"/>
    <dgm:cxn modelId="{4FD33C2B-C0D0-463C-A587-578CBEF3B9C1}" type="presParOf" srcId="{8521EFFE-9CBC-4C9B-A8DA-11011DBB1B0F}" destId="{08E79C94-ACFA-4384-8BFF-A0469446732D}" srcOrd="0" destOrd="0" presId="urn:microsoft.com/office/officeart/2008/layout/HalfCircleOrganizationChart"/>
    <dgm:cxn modelId="{46EDB9B4-DCE4-4FAD-81BE-BA63422AB2C0}" type="presParOf" srcId="{8521EFFE-9CBC-4C9B-A8DA-11011DBB1B0F}" destId="{4C0C5A7A-641D-4E26-A8B9-ABFB1BE67FC3}" srcOrd="1" destOrd="0" presId="urn:microsoft.com/office/officeart/2008/layout/HalfCircleOrganizationChart"/>
    <dgm:cxn modelId="{D8FA0A91-827B-4D21-A23B-CD212F582194}" type="presParOf" srcId="{8521EFFE-9CBC-4C9B-A8DA-11011DBB1B0F}" destId="{2EAB8392-22BD-4B20-B6B0-76DC7EB6BD0E}" srcOrd="2" destOrd="0" presId="urn:microsoft.com/office/officeart/2008/layout/HalfCircleOrganizationChart"/>
    <dgm:cxn modelId="{8DE92D59-B8A6-4999-8027-E4CE9DCCCB35}" type="presParOf" srcId="{8521EFFE-9CBC-4C9B-A8DA-11011DBB1B0F}" destId="{65219922-4C1E-457C-9D3D-39BA74B4493C}" srcOrd="3" destOrd="0" presId="urn:microsoft.com/office/officeart/2008/layout/HalfCircleOrganizationChart"/>
    <dgm:cxn modelId="{1BC7355C-C114-4536-BCF1-E6A4F47ED314}" type="presParOf" srcId="{CF163E28-5C8E-422C-9AEC-3F85C45B9D9F}" destId="{CA506409-4F7B-4F16-A87D-6A3B2F1D186F}" srcOrd="1" destOrd="0" presId="urn:microsoft.com/office/officeart/2008/layout/HalfCircleOrganizationChart"/>
    <dgm:cxn modelId="{24A11043-D244-4290-970E-6038CB5E59BA}" type="presParOf" srcId="{CF163E28-5C8E-422C-9AEC-3F85C45B9D9F}" destId="{8A75B3F3-6A6D-4BF8-8E4A-2DA4B660A04C}" srcOrd="2" destOrd="0" presId="urn:microsoft.com/office/officeart/2008/layout/HalfCircleOrganizationChart"/>
    <dgm:cxn modelId="{965904A2-7BDE-410A-A31F-1FA9C0DB27C5}" type="presParOf" srcId="{33197343-ACCC-4016-AA1A-7A904EF3B788}" destId="{126299DA-E744-41A2-B4C4-465152BDF07C}" srcOrd="2" destOrd="0" presId="urn:microsoft.com/office/officeart/2008/layout/HalfCircleOrganizationChar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A76B9FC-6AC7-4778-B264-22325F8B637F}">
      <dsp:nvSpPr>
        <dsp:cNvPr id="0" name=""/>
        <dsp:cNvSpPr/>
      </dsp:nvSpPr>
      <dsp:spPr>
        <a:xfrm>
          <a:off x="4298156" y="1604111"/>
          <a:ext cx="1939495" cy="67321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36606"/>
              </a:lnTo>
              <a:lnTo>
                <a:pt x="1939495" y="336606"/>
              </a:lnTo>
              <a:lnTo>
                <a:pt x="1939495" y="673213"/>
              </a:lnTo>
            </a:path>
          </a:pathLst>
        </a:custGeom>
        <a:noFill/>
        <a:ln w="19050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B6D5DE9-79BA-4B9B-B296-FD806170F666}">
      <dsp:nvSpPr>
        <dsp:cNvPr id="0" name=""/>
        <dsp:cNvSpPr/>
      </dsp:nvSpPr>
      <dsp:spPr>
        <a:xfrm>
          <a:off x="2358660" y="1604111"/>
          <a:ext cx="1939495" cy="673213"/>
        </a:xfrm>
        <a:custGeom>
          <a:avLst/>
          <a:gdLst/>
          <a:ahLst/>
          <a:cxnLst/>
          <a:rect l="0" t="0" r="0" b="0"/>
          <a:pathLst>
            <a:path>
              <a:moveTo>
                <a:pt x="1939495" y="0"/>
              </a:moveTo>
              <a:lnTo>
                <a:pt x="1939495" y="336606"/>
              </a:lnTo>
              <a:lnTo>
                <a:pt x="0" y="336606"/>
              </a:lnTo>
              <a:lnTo>
                <a:pt x="0" y="673213"/>
              </a:lnTo>
            </a:path>
          </a:pathLst>
        </a:custGeom>
        <a:noFill/>
        <a:ln w="19050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C30C4D2-C94F-48E0-ADB6-9C2F63F27CE1}">
      <dsp:nvSpPr>
        <dsp:cNvPr id="0" name=""/>
        <dsp:cNvSpPr/>
      </dsp:nvSpPr>
      <dsp:spPr>
        <a:xfrm>
          <a:off x="3496711" y="1222"/>
          <a:ext cx="1602888" cy="1602888"/>
        </a:xfrm>
        <a:prstGeom prst="arc">
          <a:avLst>
            <a:gd name="adj1" fmla="val 13200000"/>
            <a:gd name="adj2" fmla="val 19200000"/>
          </a:avLst>
        </a:prstGeom>
        <a:noFill/>
        <a:ln w="19050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50D8B0C-DEC8-40B6-824B-640D5AD4341C}">
      <dsp:nvSpPr>
        <dsp:cNvPr id="0" name=""/>
        <dsp:cNvSpPr/>
      </dsp:nvSpPr>
      <dsp:spPr>
        <a:xfrm>
          <a:off x="3496711" y="1222"/>
          <a:ext cx="1602888" cy="1602888"/>
        </a:xfrm>
        <a:prstGeom prst="arc">
          <a:avLst>
            <a:gd name="adj1" fmla="val 2400000"/>
            <a:gd name="adj2" fmla="val 8400000"/>
          </a:avLst>
        </a:prstGeom>
        <a:noFill/>
        <a:ln w="19050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7217486-1018-4416-A07B-8359FCBC8292}">
      <dsp:nvSpPr>
        <dsp:cNvPr id="0" name=""/>
        <dsp:cNvSpPr/>
      </dsp:nvSpPr>
      <dsp:spPr>
        <a:xfrm>
          <a:off x="2695267" y="289742"/>
          <a:ext cx="3205777" cy="1025848"/>
        </a:xfrm>
        <a:prstGeom prst="rect">
          <a:avLst/>
        </a:prstGeom>
        <a:noFill/>
        <a:ln w="19050" cap="rnd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r-HR" sz="3600" kern="1200" dirty="0">
              <a:solidFill>
                <a:srgbClr val="002060"/>
              </a:solidFill>
            </a:rPr>
            <a:t>KMP ALGORITAM</a:t>
          </a:r>
        </a:p>
      </dsp:txBody>
      <dsp:txXfrm>
        <a:off x="2695267" y="289742"/>
        <a:ext cx="3205777" cy="1025848"/>
      </dsp:txXfrm>
    </dsp:sp>
    <dsp:sp modelId="{086450F1-F648-4223-9821-6611D3B9701C}">
      <dsp:nvSpPr>
        <dsp:cNvPr id="0" name=""/>
        <dsp:cNvSpPr/>
      </dsp:nvSpPr>
      <dsp:spPr>
        <a:xfrm>
          <a:off x="1557215" y="2277325"/>
          <a:ext cx="1602888" cy="1602888"/>
        </a:xfrm>
        <a:prstGeom prst="arc">
          <a:avLst>
            <a:gd name="adj1" fmla="val 13200000"/>
            <a:gd name="adj2" fmla="val 19200000"/>
          </a:avLst>
        </a:prstGeom>
        <a:noFill/>
        <a:ln w="19050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4F6080A-FFBF-4A1D-9906-599FA8ACC99C}">
      <dsp:nvSpPr>
        <dsp:cNvPr id="0" name=""/>
        <dsp:cNvSpPr/>
      </dsp:nvSpPr>
      <dsp:spPr>
        <a:xfrm>
          <a:off x="1557215" y="2277325"/>
          <a:ext cx="1602888" cy="1602888"/>
        </a:xfrm>
        <a:prstGeom prst="arc">
          <a:avLst>
            <a:gd name="adj1" fmla="val 2400000"/>
            <a:gd name="adj2" fmla="val 8400000"/>
          </a:avLst>
        </a:prstGeom>
        <a:noFill/>
        <a:ln w="19050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5059AD5-BAD1-4ADD-BE68-64A55AC27551}">
      <dsp:nvSpPr>
        <dsp:cNvPr id="0" name=""/>
        <dsp:cNvSpPr/>
      </dsp:nvSpPr>
      <dsp:spPr>
        <a:xfrm>
          <a:off x="755771" y="2565845"/>
          <a:ext cx="3205777" cy="1025848"/>
        </a:xfrm>
        <a:prstGeom prst="rect">
          <a:avLst/>
        </a:prstGeom>
        <a:noFill/>
        <a:ln w="19050" cap="rnd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685" tIns="19685" rIns="19685" bIns="19685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r-HR" sz="3100" kern="1200" dirty="0" err="1">
              <a:solidFill>
                <a:srgbClr val="002060"/>
              </a:solidFill>
            </a:rPr>
            <a:t>Pretprocesiranje</a:t>
          </a:r>
          <a:endParaRPr lang="hr-HR" sz="3100" kern="1200" dirty="0">
            <a:solidFill>
              <a:srgbClr val="002060"/>
            </a:solidFill>
          </a:endParaRPr>
        </a:p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r-HR" sz="2000" kern="1200" dirty="0">
              <a:solidFill>
                <a:srgbClr val="002060"/>
              </a:solidFill>
            </a:rPr>
            <a:t>Izgradnja polja </a:t>
          </a:r>
          <a:r>
            <a:rPr lang="hr-HR" sz="2000" kern="1200" dirty="0" err="1">
              <a:solidFill>
                <a:srgbClr val="002060"/>
              </a:solidFill>
            </a:rPr>
            <a:t>lps</a:t>
          </a:r>
          <a:endParaRPr lang="hr-HR" sz="2000" kern="1200" dirty="0">
            <a:solidFill>
              <a:srgbClr val="002060"/>
            </a:solidFill>
          </a:endParaRPr>
        </a:p>
      </dsp:txBody>
      <dsp:txXfrm>
        <a:off x="755771" y="2565845"/>
        <a:ext cx="3205777" cy="1025848"/>
      </dsp:txXfrm>
    </dsp:sp>
    <dsp:sp modelId="{4C0C5A7A-641D-4E26-A8B9-ABFB1BE67FC3}">
      <dsp:nvSpPr>
        <dsp:cNvPr id="0" name=""/>
        <dsp:cNvSpPr/>
      </dsp:nvSpPr>
      <dsp:spPr>
        <a:xfrm>
          <a:off x="5436207" y="2277325"/>
          <a:ext cx="1602888" cy="1602888"/>
        </a:xfrm>
        <a:prstGeom prst="arc">
          <a:avLst>
            <a:gd name="adj1" fmla="val 13200000"/>
            <a:gd name="adj2" fmla="val 19200000"/>
          </a:avLst>
        </a:prstGeom>
        <a:noFill/>
        <a:ln w="19050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EAB8392-22BD-4B20-B6B0-76DC7EB6BD0E}">
      <dsp:nvSpPr>
        <dsp:cNvPr id="0" name=""/>
        <dsp:cNvSpPr/>
      </dsp:nvSpPr>
      <dsp:spPr>
        <a:xfrm>
          <a:off x="5436207" y="2277325"/>
          <a:ext cx="1602888" cy="1602888"/>
        </a:xfrm>
        <a:prstGeom prst="arc">
          <a:avLst>
            <a:gd name="adj1" fmla="val 2400000"/>
            <a:gd name="adj2" fmla="val 8400000"/>
          </a:avLst>
        </a:prstGeom>
        <a:noFill/>
        <a:ln w="19050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8E79C94-ACFA-4384-8BFF-A0469446732D}">
      <dsp:nvSpPr>
        <dsp:cNvPr id="0" name=""/>
        <dsp:cNvSpPr/>
      </dsp:nvSpPr>
      <dsp:spPr>
        <a:xfrm>
          <a:off x="4634762" y="2565845"/>
          <a:ext cx="3205777" cy="1025848"/>
        </a:xfrm>
        <a:prstGeom prst="rect">
          <a:avLst/>
        </a:prstGeom>
        <a:noFill/>
        <a:ln w="19050" cap="rnd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685" tIns="19685" rIns="19685" bIns="19685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r-HR" sz="3100" kern="1200" dirty="0">
              <a:solidFill>
                <a:srgbClr val="002060"/>
              </a:solidFill>
            </a:rPr>
            <a:t>Pretraživanje</a:t>
          </a:r>
        </a:p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r-HR" sz="2000" kern="1200" dirty="0">
              <a:solidFill>
                <a:srgbClr val="002060"/>
              </a:solidFill>
            </a:rPr>
            <a:t>funkcija KMP</a:t>
          </a:r>
        </a:p>
      </dsp:txBody>
      <dsp:txXfrm>
        <a:off x="4634762" y="2565845"/>
        <a:ext cx="3205777" cy="102584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HalfCircleOrganizationChart">
  <dgm:title val=""/>
  <dgm:desc val=""/>
  <dgm:catLst>
    <dgm:cat type="hierarchy" pri="1500"/>
  </dgm:catLst>
  <dgm:sampData>
    <dgm:dataModel>
      <dgm:ptLst>
        <dgm:pt modelId="0" type="doc"/>
        <dgm:pt modelId="1">
          <dgm:prSet phldr="1"/>
        </dgm:pt>
        <dgm:pt modelId="11" type="asst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 type="asst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Name0">
    <dgm:varLst>
      <dgm:orgChart val="1"/>
      <dgm:chPref val="1"/>
      <dgm:dir/>
      <dgm:animOne val="branch"/>
      <dgm:animLvl val="lvl"/>
      <dgm:resizeHandles/>
    </dgm:varLst>
    <dgm:choose name="Name1">
      <dgm:if name="Name2" func="var" arg="dir" op="equ" val="norm">
        <dgm:alg type="hierChild">
          <dgm:param type="linDir" val="fromL"/>
        </dgm:alg>
      </dgm:if>
      <dgm:else name="Name3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2" refType="w" fact="10"/>
      <dgm:constr type="h" for="des" forName="rootComposite2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forEach name="Name4" axis="ch">
      <dgm:forEach name="Name5" axis="self" ptType="node">
        <dgm:layoutNode name="hierRoot1">
          <dgm:varLst>
            <dgm:hierBranch val="init"/>
          </dgm:varLst>
          <dgm:choose name="Name6">
            <dgm:if name="Name7" func="var" arg="hierBranch" op="equ" val="l">
              <dgm:alg type="hierRoot">
                <dgm:param type="hierAlign" val="tR"/>
              </dgm:alg>
              <dgm:constrLst>
                <dgm:constr type="alignOff" val="0.65"/>
              </dgm:constrLst>
            </dgm:if>
            <dgm:if name="Name8" func="var" arg="hierBranch" op="equ" val="r">
              <dgm:alg type="hierRoot">
                <dgm:param type="hierAlign" val="tL"/>
              </dgm:alg>
              <dgm:constrLst>
                <dgm:constr type="alignOff" val="0.65"/>
              </dgm:constrLst>
            </dgm:if>
            <dgm:if name="Name9" func="var" arg="hierBranch" op="equ" val="hang">
              <dgm:alg type="hierRoot"/>
              <dgm:constrLst>
                <dgm:constr type="alignOff" val="0.65"/>
              </dgm:constrLst>
            </dgm:if>
            <dgm:else name="Name10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1">
              <dgm:if name="Name12" func="var" arg="hierBranch" op="equ" val="init">
                <dgm:constrLst>
                  <dgm:constr type="l" for="ch" forName="rootText1"/>
                  <dgm:constr type="t" for="ch" forName="rootText1" refType="h" fact="0.18"/>
                  <dgm:constr type="w" for="ch" forName="rootText1" refType="w"/>
                  <dgm:constr type="h" for="ch" forName="rootText1" refType="h" fact="0.64"/>
                  <dgm:constr type="l" for="ch" forName="topArc1" refType="w" fact="0.25"/>
                  <dgm:constr type="t" for="ch" forName="topArc1"/>
                  <dgm:constr type="w" for="ch" forName="topArc1" refType="h" refFor="ch" refForName="topArc1"/>
                  <dgm:constr type="h" for="ch" forName="topArc1" refType="h"/>
                  <dgm:constr type="l" for="ch" forName="bottomArc1" refType="w" fact="0.25"/>
                  <dgm:constr type="t" for="ch" forName="bottomArc1"/>
                  <dgm:constr type="w" for="ch" forName="bottomArc1" refType="h" refFor="ch" refForName="bottomArc1"/>
                  <dgm:constr type="h" for="ch" forName="bottomArc1" refType="h"/>
                  <dgm:constr type="ctrX" for="ch" forName="topConnNode1" refType="w" fact="0.5"/>
                  <dgm:constr type="t" for="ch" forName="topConnNode1"/>
                  <dgm:constr type="w" for="ch" forName="topConnNode1" refType="h" fact="0.76"/>
                  <dgm:constr type="b" for="ch" forName="topConnNode1" refType="t" refFor="ch" refForName="rootText1"/>
                </dgm:constrLst>
              </dgm:if>
              <dgm:if name="Name13" func="var" arg="hierBranch" op="equ" val="l">
                <dgm:constrLst>
                  <dgm:constr type="l" for="ch" forName="rootText1"/>
                  <dgm:constr type="t" for="ch" forName="rootText1" refType="h" fact="0.18"/>
                  <dgm:constr type="w" for="ch" forName="rootText1" refType="w"/>
                  <dgm:constr type="h" for="ch" forName="rootText1" refType="h" fact="0.64"/>
                  <dgm:constr type="l" for="ch" forName="topArc1" refType="w" fact="0.25"/>
                  <dgm:constr type="t" for="ch" forName="topArc1"/>
                  <dgm:constr type="w" for="ch" forName="topArc1" refType="h" refFor="ch" refForName="topArc1"/>
                  <dgm:constr type="h" for="ch" forName="topArc1" refType="h"/>
                  <dgm:constr type="l" for="ch" forName="bottomArc1" refType="w" fact="0.25"/>
                  <dgm:constr type="t" for="ch" forName="bottomArc1"/>
                  <dgm:constr type="w" for="ch" forName="bottomArc1" refType="h" refFor="ch" refForName="bottomArc1"/>
                  <dgm:constr type="h" for="ch" forName="bottomArc1" refType="h"/>
                  <dgm:constr type="ctrX" for="ch" forName="topConnNode1" refType="w" fact="0.5"/>
                  <dgm:constr type="t" for="ch" forName="topConnNode1"/>
                  <dgm:constr type="w" for="ch" forName="topConnNode1" refType="h" fact="0.76"/>
                  <dgm:constr type="b" for="ch" forName="topConnNode1" refType="t" refFor="ch" refForName="rootText1"/>
                </dgm:constrLst>
              </dgm:if>
              <dgm:if name="Name14" func="var" arg="hierBranch" op="equ" val="r">
                <dgm:constrLst>
                  <dgm:constr type="l" for="ch" forName="rootText1"/>
                  <dgm:constr type="t" for="ch" forName="rootText1" refType="h" fact="0.18"/>
                  <dgm:constr type="w" for="ch" forName="rootText1" refType="w"/>
                  <dgm:constr type="h" for="ch" forName="rootText1" refType="h" fact="0.64"/>
                  <dgm:constr type="l" for="ch" forName="topArc1" refType="w" fact="0.25"/>
                  <dgm:constr type="t" for="ch" forName="topArc1"/>
                  <dgm:constr type="w" for="ch" forName="topArc1" refType="h" refFor="ch" refForName="topArc1"/>
                  <dgm:constr type="h" for="ch" forName="topArc1" refType="h"/>
                  <dgm:constr type="l" for="ch" forName="bottomArc1" refType="w" fact="0.25"/>
                  <dgm:constr type="t" for="ch" forName="bottomArc1"/>
                  <dgm:constr type="w" for="ch" forName="bottomArc1" refType="h" refFor="ch" refForName="bottomArc1"/>
                  <dgm:constr type="h" for="ch" forName="bottomArc1" refType="h"/>
                  <dgm:constr type="ctrX" for="ch" forName="topConnNode1" refType="w" fact="0.5"/>
                  <dgm:constr type="t" for="ch" forName="topConnNode1"/>
                  <dgm:constr type="w" for="ch" forName="topConnNode1" refType="h" fact="0.76"/>
                  <dgm:constr type="b" for="ch" forName="topConnNode1" refType="t" refFor="ch" refForName="rootText1"/>
                </dgm:constrLst>
              </dgm:if>
              <dgm:else name="Name15">
                <dgm:constrLst>
                  <dgm:constr type="l" for="ch" forName="rootText1"/>
                  <dgm:constr type="t" for="ch" forName="rootText1" refType="h" fact="0.18"/>
                  <dgm:constr type="w" for="ch" forName="rootText1" refType="w"/>
                  <dgm:constr type="h" for="ch" forName="rootText1" refType="h" fact="0.64"/>
                  <dgm:constr type="l" for="ch" forName="topArc1" refType="w" fact="0.25"/>
                  <dgm:constr type="t" for="ch" forName="topArc1"/>
                  <dgm:constr type="w" for="ch" forName="topArc1" refType="h" refFor="ch" refForName="topArc1"/>
                  <dgm:constr type="h" for="ch" forName="topArc1" refType="h"/>
                  <dgm:constr type="l" for="ch" forName="bottomArc1" refType="w" fact="0.25"/>
                  <dgm:constr type="t" for="ch" forName="bottomArc1"/>
                  <dgm:constr type="w" for="ch" forName="bottomArc1" refType="h" refFor="ch" refForName="bottomArc1"/>
                  <dgm:constr type="h" for="ch" forName="bottomArc1" refType="h"/>
                  <dgm:constr type="ctrX" for="ch" forName="topConnNode1" refType="w" fact="0.5"/>
                  <dgm:constr type="t" for="ch" forName="topConnNode1"/>
                  <dgm:constr type="w" for="ch" forName="topConnNode1" refType="h" fact="0.76"/>
                  <dgm:constr type="b" for="ch" forName="topConnNode1" refType="t" refFor="ch" refForName="rootText1"/>
                </dgm:constrLst>
              </dgm:else>
            </dgm:choose>
            <dgm:layoutNode name="rootText1" styleLbl="alignAcc1">
              <dgm:varLst>
                <dgm:chPref val="3"/>
              </dgm:varLst>
              <dgm:alg type="tx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topArc1" styleLbl="parChTrans1D1" moveWith="rootText1">
              <dgm:alg type="sp"/>
              <dgm:shape xmlns:r="http://schemas.openxmlformats.org/officeDocument/2006/relationships" type="arc" r:blip="" zOrderOff="-2">
                <dgm:adjLst>
                  <dgm:adj idx="1" val="-140"/>
                  <dgm:adj idx="2" val="-40"/>
                </dgm:adjLst>
              </dgm:shape>
              <dgm:presOf/>
            </dgm:layoutNode>
            <dgm:layoutNode name="bottomArc1" styleLbl="parChTrans1D1" moveWith="rootText1">
              <dgm:alg type="sp"/>
              <dgm:shape xmlns:r="http://schemas.openxmlformats.org/officeDocument/2006/relationships" type="arc" r:blip="" zOrderOff="-2">
                <dgm:adjLst>
                  <dgm:adj idx="1" val="40"/>
                  <dgm:adj idx="2" val="140"/>
                </dgm:adjLst>
              </dgm:shape>
              <dgm:presOf/>
            </dgm:layoutNode>
            <dgm:layoutNode name="topConnNode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</dgm:layoutNode>
          </dgm:layoutNode>
          <dgm:layoutNode name="hierChild2">
            <dgm:choose name="Name16">
              <dgm:if name="Name17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18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19" func="var" arg="hierBranch" op="equ" val="hang">
                <dgm:choose name="Name20">
                  <dgm:if name="Name21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2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3">
                <dgm:choose name="Name24">
                  <dgm:if name="Name25" func="var" arg="dir" op="equ" val="norm">
                    <dgm:alg type="hierChild"/>
                  </dgm:if>
                  <dgm:else name="Name26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forEach name="rep2a" axis="ch" ptType="nonAsst">
              <dgm:forEach name="Name27" axis="precedSib" ptType="parTrans" st="-1" cnt="1">
                <dgm:layoutNode name="Name28">
                  <dgm:choose name="Name29">
                    <dgm:if name="Name30" func="var" arg="hierBranch" op="equ" val="std">
                      <dgm:choose name="Name31">
                        <dgm:if name="Name32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  <dgm:param type="srcNode" val="bottomArc1"/>
                            <dgm:param type="dstNode" val="topArc2"/>
                          </dgm:alg>
                        </dgm:if>
                        <dgm:if name="Name33" axis="par" ptType="asst" func="cnt" op="equ" val="1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  <dgm:param type="srcNode" val="bottomArc3"/>
                            <dgm:param type="dstNode" val="topArc2"/>
                          </dgm:alg>
                        </dgm:if>
                        <dgm:else name="Name34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  <dgm:param type="srcNode" val="bottomArc2"/>
                            <dgm:param type="dstNode" val="topArc2"/>
                          </dgm:alg>
                        </dgm:else>
                      </dgm:choose>
                    </dgm:if>
                    <dgm:if name="Name35" func="var" arg="hierBranch" op="equ" val="init">
                      <dgm:choose name="Name36">
                        <dgm:if name="Name37" axis="self" func="depth" op="lte" val="2">
                          <dgm:choose name="Name38">
                            <dgm:if name="Name39" axis="self" func="depth" op="lte" val="2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  <dgm:param type="srcNode" val="bottomArc1"/>
                                <dgm:param type="dstNode" val="topArc2"/>
                              </dgm:alg>
                            </dgm:if>
                            <dgm:if name="Name40" axis="par" ptType="asst" func="cnt" op="equ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  <dgm:param type="srcNode" val="bottomArc3"/>
                                <dgm:param type="dstNode" val="topArc2"/>
                              </dgm:alg>
                            </dgm:if>
                            <dgm:else name="Name4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  <dgm:param type="srcNode" val="bottomArc2"/>
                                <dgm:param type="dstNode" val="topArc2"/>
                              </dgm:alg>
                            </dgm:else>
                          </dgm:choose>
                        </dgm:if>
                        <dgm:else name="Name42">
                          <dgm:choose name="Name43">
                            <dgm:if name="Name44" axis="par des" func="maxDepth" op="lte" val="1">
                              <dgm:choose name="Name45">
                                <dgm:if name="Name46" axis="self" func="depth" op="lte" val="2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bL bR"/>
                                    <dgm:param type="srcNode" val="bottomArc1"/>
                                    <dgm:param type="dstNode" val="topConnNode2"/>
                                  </dgm:alg>
                                </dgm:if>
                                <dgm:if name="Name47" axis="par" ptType="asst" func="cnt" op="equ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bL bR"/>
                                    <dgm:param type="srcNode" val="bottomArc3"/>
                                    <dgm:param type="dstNode" val="topConnNode2"/>
                                  </dgm:alg>
                                </dgm:if>
                                <dgm:else name="Name48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bL bR"/>
                                    <dgm:param type="srcNode" val="bottomArc2"/>
                                    <dgm:param type="dstNode" val="topConnNode2"/>
                                  </dgm:alg>
                                </dgm:else>
                              </dgm:choose>
                            </dgm:if>
                            <dgm:else name="Name49">
                              <dgm:choose name="Name50">
                                <dgm:if name="Name51" axis="self" func="depth" op="lte" val="2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tCtr"/>
                                    <dgm:param type="bendPt" val="end"/>
                                    <dgm:param type="srcNode" val="bottomArc1"/>
                                    <dgm:param type="dstNode" val="topArc2"/>
                                  </dgm:alg>
                                </dgm:if>
                                <dgm:if name="Name52" axis="par" ptType="asst" func="cnt" op="equ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tCtr"/>
                                    <dgm:param type="bendPt" val="end"/>
                                    <dgm:param type="srcNode" val="bottomArc3"/>
                                    <dgm:param type="dstNode" val="topArc2"/>
                                  </dgm:alg>
                                </dgm:if>
                                <dgm:else name="Name53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tCtr"/>
                                    <dgm:param type="bendPt" val="end"/>
                                    <dgm:param type="srcNode" val="bottomArc2"/>
                                    <dgm:param type="dstNode" val="topArc2"/>
                                  </dgm:alg>
                                </dgm:else>
                              </dgm:choose>
                            </dgm:else>
                          </dgm:choose>
                        </dgm:else>
                      </dgm:choose>
                    </dgm:if>
                    <dgm:else name="Name54">
                      <dgm:choose name="Name55">
                        <dgm:if name="Name56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bL bR"/>
                            <dgm:param type="srcNode" val="bottomArc1"/>
                            <dgm:param type="dstNode" val="topConnNode2"/>
                          </dgm:alg>
                        </dgm:if>
                        <dgm:if name="Name57" axis="par" ptType="asst" func="cnt" op="equ" val="1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bL bR"/>
                            <dgm:param type="srcNode" val="bottomArc3"/>
                            <dgm:param type="dstNode" val="topConnNode2"/>
                          </dgm:alg>
                        </dgm:if>
                        <dgm:else name="Name58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bL bR"/>
                            <dgm:param type="srcNode" val="bottomArc2"/>
                            <dgm:param type="dstNode" val="topConnNode2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</dgm:layoutNode>
              </dgm:forEach>
              <dgm:layoutNode name="hierRoot2">
                <dgm:varLst>
                  <dgm:hierBranch val="init"/>
                </dgm:varLst>
                <dgm:choose name="Name59">
                  <dgm:if name="Name60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61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62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63" func="var" arg="hierBranch" op="equ" val="init">
                    <dgm:choose name="Name64">
                      <dgm:if name="Name65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6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layoutNode name="rootComposite2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68">
                    <dgm:if name="Name69" func="var" arg="hierBranch" op="equ" val="init">
                      <dgm:constrLst>
                        <dgm:constr type="l" for="ch" forName="rootText2"/>
                        <dgm:constr type="t" for="ch" forName="rootText2" refType="h" fact="0.18"/>
                        <dgm:constr type="w" for="ch" forName="rootText2" refType="w"/>
                        <dgm:constr type="h" for="ch" forName="rootText2" refType="h" fact="0.64"/>
                        <dgm:constr type="l" for="ch" forName="topArc2" refType="w" fact="0.25"/>
                        <dgm:constr type="t" for="ch" forName="topArc2"/>
                        <dgm:constr type="w" for="ch" forName="topArc2" refType="h" refFor="ch" refForName="topArc2"/>
                        <dgm:constr type="h" for="ch" forName="topArc2" refType="h"/>
                        <dgm:constr type="l" for="ch" forName="bottomArc2" refType="w" fact="0.25"/>
                        <dgm:constr type="t" for="ch" forName="bottomArc2"/>
                        <dgm:constr type="w" for="ch" forName="bottomArc2" refType="h" refFor="ch" refForName="bottomArc2"/>
                        <dgm:constr type="h" for="ch" forName="bottomArc2" refType="h"/>
                        <dgm:constr type="ctrX" for="ch" forName="topConnNode2" refType="w" fact="0.5"/>
                        <dgm:constr type="t" for="ch" forName="topConnNode2"/>
                        <dgm:constr type="w" for="ch" forName="topConnNode2" refType="h" fact="0.76"/>
                        <dgm:constr type="b" for="ch" forName="topConnNode2" refType="t" refFor="ch" refForName="rootText2"/>
                      </dgm:constrLst>
                    </dgm:if>
                    <dgm:if name="Name70" func="var" arg="hierBranch" op="equ" val="l">
                      <dgm:constrLst>
                        <dgm:constr type="l" for="ch" forName="rootText2"/>
                        <dgm:constr type="t" for="ch" forName="rootText2" refType="h" fact="0.18"/>
                        <dgm:constr type="w" for="ch" forName="rootText2" refType="w"/>
                        <dgm:constr type="h" for="ch" forName="rootText2" refType="h" fact="0.64"/>
                        <dgm:constr type="l" for="ch" forName="topArc2" refType="w" fact="0.25"/>
                        <dgm:constr type="t" for="ch" forName="topArc2"/>
                        <dgm:constr type="w" for="ch" forName="topArc2" refType="h" refFor="ch" refForName="topArc2"/>
                        <dgm:constr type="h" for="ch" forName="topArc2" refType="h"/>
                        <dgm:constr type="l" for="ch" forName="bottomArc2" refType="w" fact="0.25"/>
                        <dgm:constr type="t" for="ch" forName="bottomArc2"/>
                        <dgm:constr type="w" for="ch" forName="bottomArc2" refType="h" refFor="ch" refForName="bottomArc2"/>
                        <dgm:constr type="h" for="ch" forName="bottomArc2" refType="h"/>
                        <dgm:constr type="ctrX" for="ch" forName="topConnNode2" refType="w" fact="0.5"/>
                        <dgm:constr type="t" for="ch" forName="topConnNode2"/>
                        <dgm:constr type="w" for="ch" forName="topConnNode2" refType="h" fact="0.76"/>
                        <dgm:constr type="b" for="ch" forName="topConnNode2" refType="t" refFor="ch" refForName="rootText2"/>
                      </dgm:constrLst>
                    </dgm:if>
                    <dgm:if name="Name71" func="var" arg="hierBranch" op="equ" val="r">
                      <dgm:constrLst>
                        <dgm:constr type="l" for="ch" forName="rootText2"/>
                        <dgm:constr type="t" for="ch" forName="rootText2" refType="h" fact="0.18"/>
                        <dgm:constr type="w" for="ch" forName="rootText2" refType="w"/>
                        <dgm:constr type="h" for="ch" forName="rootText2" refType="h" fact="0.64"/>
                        <dgm:constr type="l" for="ch" forName="topArc2" refType="w" fact="0.25"/>
                        <dgm:constr type="t" for="ch" forName="topArc2"/>
                        <dgm:constr type="w" for="ch" forName="topArc2" refType="h" refFor="ch" refForName="topArc2"/>
                        <dgm:constr type="h" for="ch" forName="topArc2" refType="h"/>
                        <dgm:constr type="l" for="ch" forName="bottomArc2" refType="w" fact="0.25"/>
                        <dgm:constr type="t" for="ch" forName="bottomArc2"/>
                        <dgm:constr type="w" for="ch" forName="bottomArc2" refType="h" refFor="ch" refForName="bottomArc2"/>
                        <dgm:constr type="h" for="ch" forName="bottomArc2" refType="h"/>
                        <dgm:constr type="ctrX" for="ch" forName="topConnNode2" refType="w" fact="0.5"/>
                        <dgm:constr type="t" for="ch" forName="topConnNode2"/>
                        <dgm:constr type="w" for="ch" forName="topConnNode2" refType="h" fact="0.76"/>
                        <dgm:constr type="b" for="ch" forName="topConnNode2" refType="t" refFor="ch" refForName="rootText2"/>
                      </dgm:constrLst>
                    </dgm:if>
                    <dgm:else name="Name72">
                      <dgm:constrLst>
                        <dgm:constr type="l" for="ch" forName="rootText2"/>
                        <dgm:constr type="t" for="ch" forName="rootText2" refType="h" fact="0.18"/>
                        <dgm:constr type="w" for="ch" forName="rootText2" refType="w"/>
                        <dgm:constr type="h" for="ch" forName="rootText2" refType="h" fact="0.64"/>
                        <dgm:constr type="l" for="ch" forName="topArc2" refType="w" fact="0.25"/>
                        <dgm:constr type="t" for="ch" forName="topArc2"/>
                        <dgm:constr type="w" for="ch" forName="topArc2" refType="h" refFor="ch" refForName="topArc2"/>
                        <dgm:constr type="h" for="ch" forName="topArc2" refType="h"/>
                        <dgm:constr type="l" for="ch" forName="bottomArc2" refType="w" fact="0.25"/>
                        <dgm:constr type="t" for="ch" forName="bottomArc2"/>
                        <dgm:constr type="w" for="ch" forName="bottomArc2" refType="h" refFor="ch" refForName="bottomArc2"/>
                        <dgm:constr type="h" for="ch" forName="bottomArc2" refType="h"/>
                        <dgm:constr type="ctrX" for="ch" forName="topConnNode2" refType="w" fact="0.5"/>
                        <dgm:constr type="t" for="ch" forName="topConnNode2"/>
                        <dgm:constr type="w" for="ch" forName="topConnNode2" refType="h" fact="0.76"/>
                        <dgm:constr type="b" for="ch" forName="topConnNode2" refType="t" refFor="ch" refForName="rootText2"/>
                      </dgm:constrLst>
                    </dgm:else>
                  </dgm:choose>
                  <dgm:layoutNode name="rootText2" styleLbl="alignAcc1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topArc2" styleLbl="parChTrans1D1" moveWith="rootText2">
                    <dgm:alg type="sp"/>
                    <dgm:shape xmlns:r="http://schemas.openxmlformats.org/officeDocument/2006/relationships" type="arc" r:blip="" zOrderOff="-2">
                      <dgm:adjLst>
                        <dgm:adj idx="1" val="-140"/>
                        <dgm:adj idx="2" val="-40"/>
                      </dgm:adjLst>
                    </dgm:shape>
                    <dgm:presOf/>
                  </dgm:layoutNode>
                  <dgm:layoutNode name="bottomArc2" styleLbl="parChTrans1D1" moveWith="rootText2">
                    <dgm:alg type="sp"/>
                    <dgm:shape xmlns:r="http://schemas.openxmlformats.org/officeDocument/2006/relationships" type="arc" r:blip="" zOrderOff="-2">
                      <dgm:adjLst>
                        <dgm:adj idx="1" val="40"/>
                        <dgm:adj idx="2" val="140"/>
                      </dgm:adjLst>
                    </dgm:shape>
                    <dgm:presOf/>
                  </dgm:layoutNode>
                  <dgm:layoutNode name="topConnNode2" moveWith="rootText2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</dgm:layoutNode>
                </dgm:layoutNode>
                <dgm:layoutNode name="hierChild4">
                  <dgm:choose name="Name73">
                    <dgm:if name="Name7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7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76" func="var" arg="hierBranch" op="equ" val="hang">
                      <dgm:choose name="Name77">
                        <dgm:if name="Name7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7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80" func="var" arg="hierBranch" op="equ" val="std">
                      <dgm:choose name="Name81">
                        <dgm:if name="Name82" func="var" arg="dir" op="equ" val="norm">
                          <dgm:alg type="hierChild"/>
                        </dgm:if>
                        <dgm:else name="Name8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84" func="var" arg="hierBranch" op="equ" val="init">
                      <dgm:choose name="Name85">
                        <dgm:if name="Name8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87">
                          <dgm:choose name="Name88">
                            <dgm:if name="Name89" func="var" arg="dir" op="equ" val="norm">
                              <dgm:alg type="hierChild"/>
                            </dgm:if>
                            <dgm:else name="Name9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91"/>
                  </dgm:choose>
                  <dgm:shape xmlns:r="http://schemas.openxmlformats.org/officeDocument/2006/relationships" r:blip="">
                    <dgm:adjLst/>
                  </dgm:shape>
                  <dgm:presOf/>
                  <dgm:forEach name="Name92" ref="rep2a"/>
                </dgm:layoutNode>
                <dgm:layoutNode name="hierChild5">
                  <dgm:choose name="Name93">
                    <dgm:if name="Name9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9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forEach name="Name96" ref="rep2b"/>
                </dgm:layoutNode>
              </dgm:layoutNode>
            </dgm:forEach>
          </dgm:layoutNode>
          <dgm:layoutNode name="hierChild3">
            <dgm:choose name="Name97">
              <dgm:if name="Name9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9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2b" axis="ch" ptType="asst">
              <dgm:forEach name="Name100" axis="precedSib" ptType="parTrans" st="-1" cnt="1">
                <dgm:layoutNode name="Name101">
                  <dgm:choose name="Name102">
                    <dgm:if name="Name103" axis="self" func="depth" op="lte" val="2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bL bR"/>
                        <dgm:param type="srcNode" val="bottomArc1"/>
                        <dgm:param type="dstNode" val="topConnNode3"/>
                      </dgm:alg>
                    </dgm:if>
                    <dgm:if name="Name104" axis="par" ptType="asst" func="cnt" op="equ" val="1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bL bR"/>
                        <dgm:param type="srcNode" val="bottomArc3"/>
                        <dgm:param type="dstNode" val="topConnNode3"/>
                      </dgm:alg>
                    </dgm:if>
                    <dgm:else name="Name10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bL bR"/>
                        <dgm:param type="srcNode" val="bottomArc2"/>
                        <dgm:param type="dstNode" val="topConnNode3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</dgm:layoutNode>
              </dgm:forEach>
              <dgm:layoutNode name="hierRoot3">
                <dgm:varLst>
                  <dgm:hierBranch val="init"/>
                </dgm:varLst>
                <dgm:choose name="Name106">
                  <dgm:if name="Name107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8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9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0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1" func="var" arg="hierBranch" op="equ" val="init">
                    <dgm:choose name="Name112">
                      <dgm:if name="Name113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14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15"/>
                </dgm:choose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16">
                    <dgm:if name="Name117" func="var" arg="hierBranch" op="equ" val="init">
                      <dgm:constrLst>
                        <dgm:constr type="l" for="ch" forName="rootText3"/>
                        <dgm:constr type="t" for="ch" forName="rootText3" refType="h" fact="0.18"/>
                        <dgm:constr type="w" for="ch" forName="rootText3" refType="w"/>
                        <dgm:constr type="h" for="ch" forName="rootText3" refType="h" fact="0.64"/>
                        <dgm:constr type="l" for="ch" forName="topArc3" refType="w" fact="0.25"/>
                        <dgm:constr type="t" for="ch" forName="topArc3"/>
                        <dgm:constr type="w" for="ch" forName="topArc3" refType="h" refFor="ch" refForName="topArc3"/>
                        <dgm:constr type="h" for="ch" forName="topArc3" refType="h"/>
                        <dgm:constr type="l" for="ch" forName="bottomArc3" refType="w" fact="0.25"/>
                        <dgm:constr type="t" for="ch" forName="bottomArc3"/>
                        <dgm:constr type="w" for="ch" forName="bottomArc3" refType="h" refFor="ch" refForName="bottomArc3"/>
                        <dgm:constr type="h" for="ch" forName="bottomArc3" refType="h"/>
                        <dgm:constr type="ctrX" for="ch" forName="topConnNode3" refType="w" fact="0.5"/>
                        <dgm:constr type="t" for="ch" forName="topConnNode3"/>
                        <dgm:constr type="w" for="ch" forName="topConnNode3" refType="h" fact="0.76"/>
                        <dgm:constr type="b" for="ch" forName="topConnNode3" refType="t" refFor="ch" refForName="rootText3"/>
                      </dgm:constrLst>
                    </dgm:if>
                    <dgm:if name="Name118" func="var" arg="hierBranch" op="equ" val="l">
                      <dgm:constrLst>
                        <dgm:constr type="l" for="ch" forName="rootText3"/>
                        <dgm:constr type="t" for="ch" forName="rootText3" refType="h" fact="0.18"/>
                        <dgm:constr type="w" for="ch" forName="rootText3" refType="w"/>
                        <dgm:constr type="h" for="ch" forName="rootText3" refType="h" fact="0.64"/>
                        <dgm:constr type="l" for="ch" forName="topArc3" refType="w" fact="0.25"/>
                        <dgm:constr type="t" for="ch" forName="topArc3"/>
                        <dgm:constr type="w" for="ch" forName="topArc3" refType="h" refFor="ch" refForName="topArc3"/>
                        <dgm:constr type="h" for="ch" forName="topArc3" refType="h"/>
                        <dgm:constr type="l" for="ch" forName="bottomArc3" refType="w" fact="0.25"/>
                        <dgm:constr type="t" for="ch" forName="bottomArc3"/>
                        <dgm:constr type="w" for="ch" forName="bottomArc3" refType="h" refFor="ch" refForName="bottomArc3"/>
                        <dgm:constr type="h" for="ch" forName="bottomArc3" refType="h"/>
                        <dgm:constr type="ctrX" for="ch" forName="topConnNode3" refType="w" fact="0.5"/>
                        <dgm:constr type="t" for="ch" forName="topConnNode3"/>
                        <dgm:constr type="w" for="ch" forName="topConnNode3" refType="h" fact="0.76"/>
                        <dgm:constr type="b" for="ch" forName="topConnNode3" refType="t" refFor="ch" refForName="rootText3"/>
                      </dgm:constrLst>
                    </dgm:if>
                    <dgm:if name="Name119" func="var" arg="hierBranch" op="equ" val="r">
                      <dgm:constrLst>
                        <dgm:constr type="l" for="ch" forName="rootText3"/>
                        <dgm:constr type="t" for="ch" forName="rootText3" refType="h" fact="0.18"/>
                        <dgm:constr type="w" for="ch" forName="rootText3" refType="w"/>
                        <dgm:constr type="h" for="ch" forName="rootText3" refType="h" fact="0.64"/>
                        <dgm:constr type="l" for="ch" forName="topArc3" refType="w" fact="0.25"/>
                        <dgm:constr type="t" for="ch" forName="topArc3"/>
                        <dgm:constr type="w" for="ch" forName="topArc3" refType="h" refFor="ch" refForName="topArc3"/>
                        <dgm:constr type="h" for="ch" forName="topArc3" refType="h"/>
                        <dgm:constr type="l" for="ch" forName="bottomArc3" refType="w" fact="0.25"/>
                        <dgm:constr type="t" for="ch" forName="bottomArc3"/>
                        <dgm:constr type="w" for="ch" forName="bottomArc3" refType="h" refFor="ch" refForName="bottomArc3"/>
                        <dgm:constr type="h" for="ch" forName="bottomArc3" refType="h"/>
                        <dgm:constr type="ctrX" for="ch" forName="topConnNode3" refType="w" fact="0.5"/>
                        <dgm:constr type="t" for="ch" forName="topConnNode3"/>
                        <dgm:constr type="w" for="ch" forName="topConnNode3" refType="h" fact="0.76"/>
                        <dgm:constr type="b" for="ch" forName="topConnNode3" refType="t" refFor="ch" refForName="rootText3"/>
                      </dgm:constrLst>
                    </dgm:if>
                    <dgm:else name="Name120">
                      <dgm:constrLst>
                        <dgm:constr type="l" for="ch" forName="rootText3"/>
                        <dgm:constr type="t" for="ch" forName="rootText3" refType="h" fact="0.18"/>
                        <dgm:constr type="w" for="ch" forName="rootText3" refType="w"/>
                        <dgm:constr type="h" for="ch" forName="rootText3" refType="h" fact="0.64"/>
                        <dgm:constr type="l" for="ch" forName="topArc3" refType="w" fact="0.25"/>
                        <dgm:constr type="t" for="ch" forName="topArc3"/>
                        <dgm:constr type="w" for="ch" forName="topArc3" refType="h" refFor="ch" refForName="topArc3"/>
                        <dgm:constr type="h" for="ch" forName="topArc3" refType="h"/>
                        <dgm:constr type="l" for="ch" forName="bottomArc3" refType="w" fact="0.25"/>
                        <dgm:constr type="t" for="ch" forName="bottomArc3"/>
                        <dgm:constr type="w" for="ch" forName="bottomArc3" refType="h" refFor="ch" refForName="bottomArc3"/>
                        <dgm:constr type="h" for="ch" forName="bottomArc3" refType="h"/>
                        <dgm:constr type="ctrX" for="ch" forName="topConnNode3" refType="w" fact="0.5"/>
                        <dgm:constr type="t" for="ch" forName="topConnNode3"/>
                        <dgm:constr type="w" for="ch" forName="topConnNode3" refType="h" fact="0.76"/>
                        <dgm:constr type="b" for="ch" forName="topConnNode3" refType="t" refFor="ch" refForName="rootText3"/>
                      </dgm:constrLst>
                    </dgm:else>
                  </dgm:choose>
                  <dgm:layoutNode name="rootText3" styleLbl="alignAcc1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topArc3" styleLbl="parChTrans1D1" moveWith="rootText3">
                    <dgm:alg type="sp"/>
                    <dgm:shape xmlns:r="http://schemas.openxmlformats.org/officeDocument/2006/relationships" type="arc" r:blip="" zOrderOff="-2">
                      <dgm:adjLst>
                        <dgm:adj idx="1" val="-140"/>
                        <dgm:adj idx="2" val="-40"/>
                      </dgm:adjLst>
                    </dgm:shape>
                    <dgm:presOf/>
                  </dgm:layoutNode>
                  <dgm:layoutNode name="bottomArc3" styleLbl="parChTrans1D1" moveWith="rootText3">
                    <dgm:alg type="sp"/>
                    <dgm:shape xmlns:r="http://schemas.openxmlformats.org/officeDocument/2006/relationships" type="arc" r:blip="" zOrderOff="-2">
                      <dgm:adjLst>
                        <dgm:adj idx="1" val="40"/>
                        <dgm:adj idx="2" val="140"/>
                      </dgm:adjLst>
                    </dgm:shape>
                    <dgm:presOf/>
                  </dgm:layoutNode>
                  <dgm:layoutNode name="topConnNode3" moveWith="rootText3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</dgm:layoutNode>
                </dgm:layoutNode>
                <dgm:layoutNode name="hierChild6">
                  <dgm:choose name="Name121">
                    <dgm:if name="Name122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3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24" func="var" arg="hierBranch" op="equ" val="hang">
                      <dgm:choose name="Name125">
                        <dgm:if name="Name126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27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28" func="var" arg="hierBranch" op="equ" val="std">
                      <dgm:choose name="Name129">
                        <dgm:if name="Name130" func="var" arg="dir" op="equ" val="norm">
                          <dgm:alg type="hierChild"/>
                        </dgm:if>
                        <dgm:else name="Name131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2" func="var" arg="hierBranch" op="equ" val="init">
                      <dgm:choose name="Name133">
                        <dgm:if name="Name134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35">
                          <dgm:alg type="hierChild"/>
                        </dgm:else>
                      </dgm:choose>
                    </dgm:if>
                    <dgm:else name="Name136"/>
                  </dgm:choose>
                  <dgm:shape xmlns:r="http://schemas.openxmlformats.org/officeDocument/2006/relationships" r:blip="">
                    <dgm:adjLst/>
                  </dgm:shape>
                  <dgm:presOf/>
                  <dgm:forEach name="Name137" ref="rep2a"/>
                </dgm:layoutNode>
                <dgm:layoutNode name="hierChild7">
                  <dgm:choose name="Name138">
                    <dgm:if name="Name139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0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forEach name="Name141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Naslovni slaj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hr-HR"/>
              <a:t>Kliknite da biste uredili stil naslova matrice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r-HR"/>
              <a:t>Kliknite da biste uredili stil podnaslova matrice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24D5D-46F5-4B71-B170-1E27A746664A}" type="datetimeFigureOut">
              <a:rPr lang="hr-HR" smtClean="0"/>
              <a:t>17.12.2024.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2FC16-AD29-474B-9581-EE5EAF60B511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0980009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slov i sadržaj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/>
              <a:t>Kliknite da biste uredili stil naslova matrice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24D5D-46F5-4B71-B170-1E27A746664A}" type="datetimeFigureOut">
              <a:rPr lang="hr-HR" smtClean="0"/>
              <a:t>17.12.2024.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2FC16-AD29-474B-9581-EE5EAF60B511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9218911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aglavlje sekcij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hr-HR"/>
              <a:t>Kliknite da biste uredili stil naslova matrice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24D5D-46F5-4B71-B170-1E27A746664A}" type="datetimeFigureOut">
              <a:rPr lang="hr-HR" smtClean="0"/>
              <a:t>17.12.2024.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2FC16-AD29-474B-9581-EE5EAF60B511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6903454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sadržaj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/>
              <a:t>Kliknite da biste uredili stil naslova matrice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24D5D-46F5-4B71-B170-1E27A746664A}" type="datetimeFigureOut">
              <a:rPr lang="hr-HR" smtClean="0"/>
              <a:t>17.12.2024.</a:t>
            </a:fld>
            <a:endParaRPr lang="hr-H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2FC16-AD29-474B-9581-EE5EAF60B511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0239350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Usporedb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hr-HR"/>
              <a:t>Kliknite da biste uredili stil naslova matrice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24D5D-46F5-4B71-B170-1E27A746664A}" type="datetimeFigureOut">
              <a:rPr lang="hr-HR" smtClean="0"/>
              <a:t>17.12.2024.</a:t>
            </a:fld>
            <a:endParaRPr lang="hr-H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2FC16-AD29-474B-9581-EE5EAF60B511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8656030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amo naslo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hr-HR"/>
              <a:t>Kliknite da biste uredili stil naslova matrice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24D5D-46F5-4B71-B170-1E27A746664A}" type="datetimeFigureOut">
              <a:rPr lang="hr-HR" smtClean="0"/>
              <a:t>17.12.2024.</a:t>
            </a:fld>
            <a:endParaRPr lang="hr-H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2FC16-AD29-474B-9581-EE5EAF60B511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9639385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azn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24D5D-46F5-4B71-B170-1E27A746664A}" type="datetimeFigureOut">
              <a:rPr lang="hr-HR" smtClean="0"/>
              <a:t>17.12.2024.</a:t>
            </a:fld>
            <a:endParaRPr lang="hr-H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2FC16-AD29-474B-9581-EE5EAF60B511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9770664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Sadržaj s 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hr-HR"/>
              <a:t>Kliknite da biste uredili stil naslova matrice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24D5D-46F5-4B71-B170-1E27A746664A}" type="datetimeFigureOut">
              <a:rPr lang="hr-HR" smtClean="0"/>
              <a:t>17.12.2024.</a:t>
            </a:fld>
            <a:endParaRPr lang="hr-H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2FC16-AD29-474B-9581-EE5EAF60B511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7747419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Slika s 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hr-HR"/>
              <a:t>Kliknite da biste uredili stil naslova matrice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r-HR"/>
              <a:t>Kliknite ikonu da biste dodali  sliku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2FC16-AD29-474B-9581-EE5EAF60B511}" type="slidenum">
              <a:rPr lang="hr-HR" smtClean="0"/>
              <a:t>‹#›</a:t>
            </a:fld>
            <a:endParaRPr lang="hr-HR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24D5D-46F5-4B71-B170-1E27A746664A}" type="datetimeFigureOut">
              <a:rPr lang="hr-HR" smtClean="0"/>
              <a:t>17.12.2024.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2655687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slov i o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hr-HR"/>
              <a:t>Kliknite da biste uredili stil naslova matrice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24D5D-46F5-4B71-B170-1E27A746664A}" type="datetimeFigureOut">
              <a:rPr lang="hr-HR" smtClean="0"/>
              <a:t>17.12.2024.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2FC16-AD29-474B-9581-EE5EAF60B511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749957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 s 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hr-HR"/>
              <a:t>Kliknite da biste uredili stil naslova matrice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24D5D-46F5-4B71-B170-1E27A746664A}" type="datetimeFigureOut">
              <a:rPr lang="hr-HR" smtClean="0"/>
              <a:t>17.12.2024.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2FC16-AD29-474B-9581-EE5EAF60B511}" type="slidenum">
              <a:rPr lang="hr-HR" smtClean="0"/>
              <a:t>‹#›</a:t>
            </a:fld>
            <a:endParaRPr lang="hr-HR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28778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artica s naziv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hr-HR"/>
              <a:t>Kliknite da biste uredili stil naslova matrice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24D5D-46F5-4B71-B170-1E27A746664A}" type="datetimeFigureOut">
              <a:rPr lang="hr-HR" smtClean="0"/>
              <a:t>17.12.2024.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2FC16-AD29-474B-9581-EE5EAF60B511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6726125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artica s nazivom cita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hr-HR"/>
              <a:t>Kliknite da biste uredili stil naslova matrice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24D5D-46F5-4B71-B170-1E27A746664A}" type="datetimeFigureOut">
              <a:rPr lang="hr-HR" smtClean="0"/>
              <a:t>17.12.2024.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2FC16-AD29-474B-9581-EE5EAF60B511}" type="slidenum">
              <a:rPr lang="hr-HR" smtClean="0"/>
              <a:t>‹#›</a:t>
            </a:fld>
            <a:endParaRPr lang="hr-HR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3465831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ili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hr-HR"/>
              <a:t>Kliknite da biste uredili stil naslova matrice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24D5D-46F5-4B71-B170-1E27A746664A}" type="datetimeFigureOut">
              <a:rPr lang="hr-HR" smtClean="0"/>
              <a:t>17.12.2024.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2FC16-AD29-474B-9581-EE5EAF60B511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58400006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slov i okomit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/>
              <a:t>Kliknite da biste uredili stil naslova matrice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24D5D-46F5-4B71-B170-1E27A746664A}" type="datetimeFigureOut">
              <a:rPr lang="hr-HR" smtClean="0"/>
              <a:t>17.12.2024.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2FC16-AD29-474B-9581-EE5EAF60B511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66698493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Okomiti naslov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hr-HR"/>
              <a:t>Kliknite da biste uredili stil naslova matrice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24D5D-46F5-4B71-B170-1E27A746664A}" type="datetimeFigureOut">
              <a:rPr lang="hr-HR" smtClean="0"/>
              <a:t>17.12.2024.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2FC16-AD29-474B-9581-EE5EAF60B511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5110605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hr-HR"/>
              <a:t>Kliknite da biste uredili stil naslova matrice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E24D5D-46F5-4B71-B170-1E27A746664A}" type="datetimeFigureOut">
              <a:rPr lang="hr-HR" smtClean="0"/>
              <a:t>17.12.2024.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97E2FC16-AD29-474B-9581-EE5EAF60B511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1362351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  <p:sldLayoutId id="2147483706" r:id="rId12"/>
    <p:sldLayoutId id="2147483707" r:id="rId13"/>
    <p:sldLayoutId id="2147483708" r:id="rId14"/>
    <p:sldLayoutId id="2147483709" r:id="rId15"/>
    <p:sldLayoutId id="2147483710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https://dl.ebooksworld.ir/books/Introduction.to.Algorithms.4th.Leiserson.Stein.Rivest.Cormen.MIT.Press.9780262046305.EBooksWorld.ir.pdf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0A5E2831-8043-0A9C-1BE7-C9EBBEF41C3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r-HR" dirty="0" err="1">
                <a:solidFill>
                  <a:srgbClr val="002060"/>
                </a:solidFill>
              </a:rPr>
              <a:t>Knuth</a:t>
            </a:r>
            <a:r>
              <a:rPr lang="hr-HR" dirty="0">
                <a:solidFill>
                  <a:srgbClr val="002060"/>
                </a:solidFill>
              </a:rPr>
              <a:t>-Morris-</a:t>
            </a:r>
            <a:r>
              <a:rPr lang="hr-HR" dirty="0" err="1">
                <a:solidFill>
                  <a:srgbClr val="002060"/>
                </a:solidFill>
              </a:rPr>
              <a:t>Prattov</a:t>
            </a:r>
            <a:r>
              <a:rPr lang="hr-HR" dirty="0">
                <a:solidFill>
                  <a:srgbClr val="002060"/>
                </a:solidFill>
              </a:rPr>
              <a:t> algoritam</a:t>
            </a:r>
          </a:p>
        </p:txBody>
      </p:sp>
      <p:sp>
        <p:nvSpPr>
          <p:cNvPr id="3" name="Podnaslov 2">
            <a:extLst>
              <a:ext uri="{FF2B5EF4-FFF2-40B4-BE49-F238E27FC236}">
                <a16:creationId xmlns:a16="http://schemas.microsoft.com/office/drawing/2014/main" id="{955F8A2B-E7A0-6B31-ECBF-6F37EEED41F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hr-HR" dirty="0">
                <a:solidFill>
                  <a:srgbClr val="002060"/>
                </a:solidFill>
              </a:rPr>
              <a:t>Izradio: Ivan Tomić</a:t>
            </a:r>
          </a:p>
          <a:p>
            <a:r>
              <a:rPr lang="hr-HR" dirty="0">
                <a:solidFill>
                  <a:srgbClr val="002060"/>
                </a:solidFill>
              </a:rPr>
              <a:t>Kolegij: Oblikovanje i analiza algoritama</a:t>
            </a:r>
          </a:p>
        </p:txBody>
      </p:sp>
      <p:pic>
        <p:nvPicPr>
          <p:cNvPr id="1026" name="Picture 2" descr="Donald Ervin Knuth - Heidelberg Laureate Forum">
            <a:extLst>
              <a:ext uri="{FF2B5EF4-FFF2-40B4-BE49-F238E27FC236}">
                <a16:creationId xmlns:a16="http://schemas.microsoft.com/office/drawing/2014/main" id="{D33FD861-CA4F-1D86-3D60-6A8080B0BC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936997">
            <a:off x="733423" y="4068754"/>
            <a:ext cx="3257550" cy="21579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Slika 3">
            <a:extLst>
              <a:ext uri="{FF2B5EF4-FFF2-40B4-BE49-F238E27FC236}">
                <a16:creationId xmlns:a16="http://schemas.microsoft.com/office/drawing/2014/main" id="{E6EF40F9-8E4B-7297-B35B-77F7E0A0F0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0684305">
            <a:off x="9481303" y="366215"/>
            <a:ext cx="1485900" cy="2228850"/>
          </a:xfrm>
          <a:prstGeom prst="rect">
            <a:avLst/>
          </a:prstGeom>
        </p:spPr>
      </p:pic>
      <p:pic>
        <p:nvPicPr>
          <p:cNvPr id="1028" name="Picture 4" descr="James H Morris - Alchetron, The Free Social Encyclopedia">
            <a:extLst>
              <a:ext uri="{FF2B5EF4-FFF2-40B4-BE49-F238E27FC236}">
                <a16:creationId xmlns:a16="http://schemas.microsoft.com/office/drawing/2014/main" id="{53154301-D6DE-69DB-58FB-C71F807C86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920355">
            <a:off x="9541226" y="3978431"/>
            <a:ext cx="1831402" cy="2266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kstniOkvir 4">
            <a:extLst>
              <a:ext uri="{FF2B5EF4-FFF2-40B4-BE49-F238E27FC236}">
                <a16:creationId xmlns:a16="http://schemas.microsoft.com/office/drawing/2014/main" id="{1682057E-480E-D750-9A73-8F66DD9BBC8A}"/>
              </a:ext>
            </a:extLst>
          </p:cNvPr>
          <p:cNvSpPr txBox="1"/>
          <p:nvPr/>
        </p:nvSpPr>
        <p:spPr>
          <a:xfrm rot="20916257">
            <a:off x="2380190" y="6160498"/>
            <a:ext cx="18764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dirty="0">
                <a:solidFill>
                  <a:srgbClr val="002060"/>
                </a:solidFill>
              </a:rPr>
              <a:t>Donald E. </a:t>
            </a:r>
            <a:r>
              <a:rPr lang="hr-HR" dirty="0" err="1">
                <a:solidFill>
                  <a:srgbClr val="002060"/>
                </a:solidFill>
              </a:rPr>
              <a:t>Knuth</a:t>
            </a:r>
            <a:endParaRPr lang="hr-HR" dirty="0">
              <a:solidFill>
                <a:srgbClr val="002060"/>
              </a:solidFill>
            </a:endParaRPr>
          </a:p>
        </p:txBody>
      </p:sp>
      <p:sp>
        <p:nvSpPr>
          <p:cNvPr id="6" name="TekstniOkvir 5">
            <a:extLst>
              <a:ext uri="{FF2B5EF4-FFF2-40B4-BE49-F238E27FC236}">
                <a16:creationId xmlns:a16="http://schemas.microsoft.com/office/drawing/2014/main" id="{7B8C3ADB-DA11-4C74-7583-B5362C88DB70}"/>
              </a:ext>
            </a:extLst>
          </p:cNvPr>
          <p:cNvSpPr txBox="1"/>
          <p:nvPr/>
        </p:nvSpPr>
        <p:spPr>
          <a:xfrm rot="20653840">
            <a:off x="8362766" y="193768"/>
            <a:ext cx="15624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dirty="0" err="1">
                <a:solidFill>
                  <a:srgbClr val="002060"/>
                </a:solidFill>
              </a:rPr>
              <a:t>Vaughan</a:t>
            </a:r>
            <a:r>
              <a:rPr lang="hr-HR" dirty="0">
                <a:solidFill>
                  <a:srgbClr val="002060"/>
                </a:solidFill>
              </a:rPr>
              <a:t> </a:t>
            </a:r>
            <a:r>
              <a:rPr lang="hr-HR" dirty="0" err="1">
                <a:solidFill>
                  <a:srgbClr val="002060"/>
                </a:solidFill>
              </a:rPr>
              <a:t>Pratt</a:t>
            </a:r>
            <a:endParaRPr lang="hr-HR" dirty="0">
              <a:solidFill>
                <a:srgbClr val="002060"/>
              </a:solidFill>
            </a:endParaRPr>
          </a:p>
        </p:txBody>
      </p:sp>
      <p:sp>
        <p:nvSpPr>
          <p:cNvPr id="7" name="TekstniOkvir 6">
            <a:extLst>
              <a:ext uri="{FF2B5EF4-FFF2-40B4-BE49-F238E27FC236}">
                <a16:creationId xmlns:a16="http://schemas.microsoft.com/office/drawing/2014/main" id="{881D367D-823D-1F02-A3C9-635A435E3925}"/>
              </a:ext>
            </a:extLst>
          </p:cNvPr>
          <p:cNvSpPr txBox="1"/>
          <p:nvPr/>
        </p:nvSpPr>
        <p:spPr>
          <a:xfrm rot="900698">
            <a:off x="8443405" y="6069875"/>
            <a:ext cx="18752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dirty="0">
                <a:solidFill>
                  <a:srgbClr val="002060"/>
                </a:solidFill>
              </a:rPr>
              <a:t>James H. Morris</a:t>
            </a:r>
          </a:p>
        </p:txBody>
      </p:sp>
    </p:spTree>
    <p:extLst>
      <p:ext uri="{BB962C8B-B14F-4D97-AF65-F5344CB8AC3E}">
        <p14:creationId xmlns:p14="http://schemas.microsoft.com/office/powerpoint/2010/main" val="6431486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D066AFB7-0A76-0637-4245-1E7C35CF98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>
                <a:solidFill>
                  <a:srgbClr val="002060"/>
                </a:solidFill>
              </a:rPr>
              <a:t>Problem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zervirano mjesto sadržaja 2">
                <a:extLst>
                  <a:ext uri="{FF2B5EF4-FFF2-40B4-BE49-F238E27FC236}">
                    <a16:creationId xmlns:a16="http://schemas.microsoft.com/office/drawing/2014/main" id="{EEE2FBA5-EF2D-E3BC-0430-5D57ECE60BB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77334" y="1488613"/>
                <a:ext cx="8596668" cy="3880773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hr-HR" sz="1800" b="1" dirty="0">
                    <a:solidFill>
                      <a:srgbClr val="002060"/>
                    </a:solidFill>
                    <a:effectLst/>
                    <a:ea typeface="Calibri" panose="020F0502020204030204" pitchFamily="34" charset="0"/>
                  </a:rPr>
                  <a:t>Definicija: </a:t>
                </a:r>
                <a:endParaRPr lang="hr-HR" sz="1800" dirty="0">
                  <a:solidFill>
                    <a:srgbClr val="002060"/>
                  </a:solidFill>
                  <a:effectLst/>
                  <a:ea typeface="Calibri" panose="020F0502020204030204" pitchFamily="34" charset="0"/>
                </a:endParaRPr>
              </a:p>
              <a:p>
                <a:pPr marL="0" indent="0">
                  <a:buNone/>
                </a:pPr>
                <a:r>
                  <a:rPr lang="hr-HR" sz="1800" dirty="0">
                    <a:solidFill>
                      <a:srgbClr val="002060"/>
                    </a:solidFill>
                    <a:effectLst/>
                    <a:ea typeface="Calibri" panose="020F0502020204030204" pitchFamily="34" charset="0"/>
                  </a:rPr>
                  <a:t>Neka je </a:t>
                </a:r>
                <a14:m>
                  <m:oMath xmlns:m="http://schemas.openxmlformats.org/officeDocument/2006/math">
                    <m:r>
                      <a:rPr lang="hr-HR" sz="1800" i="1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𝑇</m:t>
                    </m:r>
                    <m:r>
                      <a:rPr lang="hr-HR" sz="1800" i="1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≔</m:t>
                    </m:r>
                    <m:r>
                      <a:rPr lang="hr-HR" sz="1800" i="1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𝑇</m:t>
                    </m:r>
                    <m:d>
                      <m:dPr>
                        <m:begChr m:val="["/>
                        <m:endChr m:val="]"/>
                        <m:ctrlPr>
                          <a:rPr lang="hr-HR" i="1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hr-HR" sz="1800" i="1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0:</m:t>
                        </m:r>
                        <m:r>
                          <a:rPr lang="hr-HR" sz="1800" i="1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𝑛</m:t>
                        </m:r>
                        <m:r>
                          <a:rPr lang="hr-HR" sz="1800" i="1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−1</m:t>
                        </m:r>
                      </m:e>
                    </m:d>
                  </m:oMath>
                </a14:m>
                <a:r>
                  <a:rPr lang="hr-HR" sz="1800" dirty="0">
                    <a:solidFill>
                      <a:srgbClr val="002060"/>
                    </a:solidFill>
                    <a:effectLst/>
                    <a:ea typeface="Times New Roman" panose="02020603050405020304" pitchFamily="18" charset="0"/>
                  </a:rPr>
                  <a:t> </a:t>
                </a:r>
                <a:r>
                  <a:rPr lang="hr-HR" sz="1800" dirty="0" err="1">
                    <a:solidFill>
                      <a:srgbClr val="002060"/>
                    </a:solidFill>
                    <a:effectLst/>
                    <a:ea typeface="Times New Roman" panose="02020603050405020304" pitchFamily="18" charset="0"/>
                  </a:rPr>
                  <a:t>string</a:t>
                </a:r>
                <a:r>
                  <a:rPr lang="hr-HR" sz="1800" dirty="0">
                    <a:solidFill>
                      <a:srgbClr val="002060"/>
                    </a:solidFill>
                    <a:effectLst/>
                    <a:ea typeface="Times New Roman" panose="02020603050405020304" pitchFamily="18" charset="0"/>
                  </a:rPr>
                  <a:t> duljine n (tekst koji pretražujemo), </a:t>
                </a:r>
                <a14:m>
                  <m:oMath xmlns:m="http://schemas.openxmlformats.org/officeDocument/2006/math">
                    <m:r>
                      <a:rPr lang="hr-HR" sz="1800" i="1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𝑃</m:t>
                    </m:r>
                    <m:r>
                      <a:rPr lang="hr-HR" sz="1800" i="1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≔</m:t>
                    </m:r>
                    <m:r>
                      <a:rPr lang="hr-HR" sz="1800" i="1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𝑃</m:t>
                    </m:r>
                    <m:d>
                      <m:dPr>
                        <m:begChr m:val="["/>
                        <m:endChr m:val="]"/>
                        <m:ctrlPr>
                          <a:rPr lang="hr-HR" i="1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hr-HR" sz="1800" i="1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0:</m:t>
                        </m:r>
                        <m:r>
                          <a:rPr lang="hr-HR" sz="1800" i="1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  <m:r>
                          <a:rPr lang="hr-HR" sz="1800" i="1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−1</m:t>
                        </m:r>
                      </m:e>
                    </m:d>
                  </m:oMath>
                </a14:m>
                <a:r>
                  <a:rPr lang="hr-HR" sz="1800" dirty="0">
                    <a:solidFill>
                      <a:srgbClr val="002060"/>
                    </a:solidFill>
                    <a:effectLst/>
                    <a:ea typeface="Calibri" panose="020F0502020204030204" pitchFamily="34" charset="0"/>
                  </a:rPr>
                  <a:t> uzorak koji tražimo u tekstu. Problem pretraživanja teksta definiramo kao problem određivanja indeksa </a:t>
                </a:r>
                <a14:m>
                  <m:oMath xmlns:m="http://schemas.openxmlformats.org/officeDocument/2006/math">
                    <m:r>
                      <a:rPr lang="hr-HR" sz="1800" i="1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𝑠</m:t>
                    </m:r>
                    <m:r>
                      <a:rPr lang="hr-HR" sz="1800" i="1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∈ </m:t>
                    </m:r>
                    <m:r>
                      <a:rPr lang="hr-HR" sz="1800" i="1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ℕ</m:t>
                    </m:r>
                    <m:r>
                      <a:rPr lang="hr-HR" sz="1800" i="1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, 0 ≤ </m:t>
                    </m:r>
                    <m:r>
                      <a:rPr lang="hr-HR" sz="1800" i="1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𝑠</m:t>
                    </m:r>
                    <m:r>
                      <a:rPr lang="hr-HR" sz="1800" i="1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&lt; </m:t>
                    </m:r>
                    <m:r>
                      <a:rPr lang="hr-HR" sz="1800" i="1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hr-HR" sz="1800" i="1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– </m:t>
                    </m:r>
                    <m:r>
                      <a:rPr lang="hr-HR" sz="1800" i="1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𝑚</m:t>
                    </m:r>
                  </m:oMath>
                </a14:m>
                <a:r>
                  <a:rPr lang="hr-HR" sz="1800" dirty="0">
                    <a:solidFill>
                      <a:srgbClr val="002060"/>
                    </a:solidFill>
                    <a:effectLst/>
                    <a:ea typeface="Times New Roman" panose="02020603050405020304" pitchFamily="18" charset="0"/>
                  </a:rPr>
                  <a:t> takvog da vrijedi </a:t>
                </a:r>
                <a14:m>
                  <m:oMath xmlns:m="http://schemas.openxmlformats.org/officeDocument/2006/math">
                    <m:r>
                      <a:rPr lang="hr-HR" sz="1800" i="1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𝑇</m:t>
                    </m:r>
                    <m:d>
                      <m:dPr>
                        <m:begChr m:val="["/>
                        <m:endChr m:val="]"/>
                        <m:ctrlPr>
                          <a:rPr lang="hr-HR" i="1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hr-HR" sz="1800" i="1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  <m:r>
                          <a:rPr lang="hr-HR" sz="1800" i="1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:</m:t>
                        </m:r>
                        <m:r>
                          <a:rPr lang="hr-HR" sz="1800" i="1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  <m:r>
                          <a:rPr lang="hr-HR" sz="1800" i="1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a:rPr lang="hr-HR" sz="1800" i="1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  <m:r>
                          <a:rPr lang="hr-HR" sz="1800" i="1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−1</m:t>
                        </m:r>
                      </m:e>
                    </m:d>
                    <m:r>
                      <a:rPr lang="hr-HR" sz="1800" i="1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hr-HR" sz="1800" i="1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𝑃</m:t>
                    </m:r>
                    <m:d>
                      <m:dPr>
                        <m:begChr m:val="["/>
                        <m:endChr m:val="]"/>
                        <m:ctrlPr>
                          <a:rPr lang="hr-HR" i="1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hr-HR" sz="1800" i="1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0:</m:t>
                        </m:r>
                        <m:r>
                          <a:rPr lang="hr-HR" sz="1800" i="1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  <m:r>
                          <a:rPr lang="hr-HR" sz="1800" i="1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−1</m:t>
                        </m:r>
                      </m:e>
                    </m:d>
                    <m:r>
                      <a:rPr lang="hr-HR" sz="1800" i="1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r>
                  <a:rPr lang="hr-HR" sz="1800" dirty="0">
                    <a:solidFill>
                      <a:srgbClr val="002060"/>
                    </a:solidFill>
                    <a:effectLst/>
                    <a:ea typeface="Times New Roman" panose="02020603050405020304" pitchFamily="18" charset="0"/>
                  </a:rPr>
                  <a:t> </a:t>
                </a:r>
              </a:p>
              <a:p>
                <a:pPr marL="0" indent="0">
                  <a:buNone/>
                </a:pPr>
                <a:r>
                  <a:rPr lang="hr-HR" dirty="0">
                    <a:solidFill>
                      <a:srgbClr val="002060"/>
                    </a:solidFill>
                  </a:rPr>
                  <a:t>Elementi </a:t>
                </a:r>
                <a:r>
                  <a:rPr lang="hr-HR" dirty="0" err="1">
                    <a:solidFill>
                      <a:srgbClr val="002060"/>
                    </a:solidFill>
                  </a:rPr>
                  <a:t>stringova</a:t>
                </a:r>
                <a:r>
                  <a:rPr lang="hr-HR" dirty="0">
                    <a:solidFill>
                      <a:srgbClr val="00206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hr-HR" sz="1800" i="1" smtClean="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𝑇</m:t>
                    </m:r>
                  </m:oMath>
                </a14:m>
                <a:r>
                  <a:rPr lang="hr-HR" dirty="0">
                    <a:solidFill>
                      <a:srgbClr val="002060"/>
                    </a:solidFill>
                  </a:rPr>
                  <a:t> i </a:t>
                </a:r>
                <a14:m>
                  <m:oMath xmlns:m="http://schemas.openxmlformats.org/officeDocument/2006/math">
                    <m:r>
                      <a:rPr lang="hr-HR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𝑃</m:t>
                    </m:r>
                  </m:oMath>
                </a14:m>
                <a:r>
                  <a:rPr lang="hr-HR" dirty="0">
                    <a:solidFill>
                      <a:srgbClr val="002060"/>
                    </a:solidFill>
                  </a:rPr>
                  <a:t> znakovi su nekog konačnog alfabeta </a:t>
                </a:r>
                <a:r>
                  <a:rPr lang="hr-HR" i="1" dirty="0">
                    <a:solidFill>
                      <a:srgbClr val="002060"/>
                    </a:solidFill>
                  </a:rPr>
                  <a:t>A</a:t>
                </a:r>
                <a:r>
                  <a:rPr lang="hr-HR" dirty="0">
                    <a:solidFill>
                      <a:srgbClr val="002060"/>
                    </a:solidFill>
                  </a:rPr>
                  <a:t>, npr. </a:t>
                </a:r>
                <a:r>
                  <a:rPr lang="hr-HR" i="1" dirty="0">
                    <a:solidFill>
                      <a:srgbClr val="002060"/>
                    </a:solidFill>
                  </a:rPr>
                  <a:t>A </a:t>
                </a:r>
                <a:r>
                  <a:rPr lang="hr-HR" dirty="0">
                    <a:solidFill>
                      <a:srgbClr val="002060"/>
                    </a:solidFill>
                  </a:rPr>
                  <a:t>= {‘a’, ‘b’, ‘c’, ‘d’}</a:t>
                </a:r>
              </a:p>
            </p:txBody>
          </p:sp>
        </mc:Choice>
        <mc:Fallback xmlns="">
          <p:sp>
            <p:nvSpPr>
              <p:cNvPr id="3" name="Rezervirano mjesto sadržaja 2">
                <a:extLst>
                  <a:ext uri="{FF2B5EF4-FFF2-40B4-BE49-F238E27FC236}">
                    <a16:creationId xmlns:a16="http://schemas.microsoft.com/office/drawing/2014/main" id="{EEE2FBA5-EF2D-E3BC-0430-5D57ECE60BB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7334" y="1488613"/>
                <a:ext cx="8596668" cy="3880773"/>
              </a:xfrm>
              <a:blipFill>
                <a:blip r:embed="rId2"/>
                <a:stretch>
                  <a:fillRect l="-2553" t="-1570" r="-496"/>
                </a:stretch>
              </a:blipFill>
            </p:spPr>
            <p:txBody>
              <a:bodyPr/>
              <a:lstStyle/>
              <a:p>
                <a:r>
                  <a:rPr lang="hr-H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Slika 6">
            <a:extLst>
              <a:ext uri="{FF2B5EF4-FFF2-40B4-BE49-F238E27FC236}">
                <a16:creationId xmlns:a16="http://schemas.microsoft.com/office/drawing/2014/main" id="{103A0129-09AD-761F-9114-24DE7B434CD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6383" t="18512" r="20341" b="39287"/>
          <a:stretch/>
        </p:blipFill>
        <p:spPr>
          <a:xfrm>
            <a:off x="1775534" y="3657601"/>
            <a:ext cx="7714695" cy="2894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58744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6C43AAFD-6E88-8C9D-1711-8CF734C8D7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>
                <a:solidFill>
                  <a:srgbClr val="002060"/>
                </a:solidFill>
              </a:rPr>
              <a:t>Ideja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6EFA27AE-EFB4-7BE0-2B3A-B9F741C88A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r-HR" dirty="0">
                <a:solidFill>
                  <a:srgbClr val="002060"/>
                </a:solidFill>
              </a:rPr>
              <a:t>Izbjeći nepotrebne usporedbe korištenjem tzv. tablice pomaka (</a:t>
            </a:r>
            <a:r>
              <a:rPr lang="hr-HR" dirty="0" err="1">
                <a:solidFill>
                  <a:srgbClr val="002060"/>
                </a:solidFill>
              </a:rPr>
              <a:t>lps</a:t>
            </a:r>
            <a:r>
              <a:rPr lang="hr-HR" dirty="0">
                <a:solidFill>
                  <a:srgbClr val="002060"/>
                </a:solidFill>
              </a:rPr>
              <a:t> polje)</a:t>
            </a:r>
          </a:p>
        </p:txBody>
      </p:sp>
      <p:pic>
        <p:nvPicPr>
          <p:cNvPr id="5" name="Slika 4">
            <a:extLst>
              <a:ext uri="{FF2B5EF4-FFF2-40B4-BE49-F238E27FC236}">
                <a16:creationId xmlns:a16="http://schemas.microsoft.com/office/drawing/2014/main" id="{DC009A5F-B3EC-1C0B-82CD-0D5BBA144F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6855" y="3919965"/>
            <a:ext cx="6886575" cy="1401675"/>
          </a:xfrm>
          <a:prstGeom prst="rect">
            <a:avLst/>
          </a:prstGeom>
        </p:spPr>
      </p:pic>
      <p:sp>
        <p:nvSpPr>
          <p:cNvPr id="6" name="TekstniOkvir 5">
            <a:extLst>
              <a:ext uri="{FF2B5EF4-FFF2-40B4-BE49-F238E27FC236}">
                <a16:creationId xmlns:a16="http://schemas.microsoft.com/office/drawing/2014/main" id="{03FBD62A-480F-B001-F60A-33953AD81B3B}"/>
              </a:ext>
            </a:extLst>
          </p:cNvPr>
          <p:cNvSpPr txBox="1"/>
          <p:nvPr/>
        </p:nvSpPr>
        <p:spPr>
          <a:xfrm>
            <a:off x="1096855" y="5557421"/>
            <a:ext cx="35994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sz="1600" dirty="0">
                <a:solidFill>
                  <a:srgbClr val="002060"/>
                </a:solidFill>
              </a:rPr>
              <a:t>primjer nepotrebnih usporedaba</a:t>
            </a:r>
          </a:p>
        </p:txBody>
      </p:sp>
    </p:spTree>
    <p:extLst>
      <p:ext uri="{BB962C8B-B14F-4D97-AF65-F5344CB8AC3E}">
        <p14:creationId xmlns:p14="http://schemas.microsoft.com/office/powerpoint/2010/main" val="12922288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Rezervirano mjesto sadržaja 5">
            <a:extLst>
              <a:ext uri="{FF2B5EF4-FFF2-40B4-BE49-F238E27FC236}">
                <a16:creationId xmlns:a16="http://schemas.microsoft.com/office/drawing/2014/main" id="{908CABEB-09F7-C270-2A67-EF9BB38A120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3363936"/>
              </p:ext>
            </p:extLst>
          </p:nvPr>
        </p:nvGraphicFramePr>
        <p:xfrm>
          <a:off x="1041847" y="1299454"/>
          <a:ext cx="8596312" cy="38814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886541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E288EF39-5A26-D643-3578-B6CDB6A3C0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 err="1">
                <a:solidFill>
                  <a:srgbClr val="002060"/>
                </a:solidFill>
              </a:rPr>
              <a:t>Pretprocesiranje</a:t>
            </a:r>
            <a:r>
              <a:rPr lang="hr-HR" dirty="0">
                <a:solidFill>
                  <a:srgbClr val="002060"/>
                </a:solidFill>
              </a:rPr>
              <a:t> – pojmovi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zervirano mjesto sadržaja 2">
                <a:extLst>
                  <a:ext uri="{FF2B5EF4-FFF2-40B4-BE49-F238E27FC236}">
                    <a16:creationId xmlns:a16="http://schemas.microsoft.com/office/drawing/2014/main" id="{7FB1A808-8FC6-CFF0-73D0-06FAECF98E9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hr-HR" dirty="0">
                    <a:solidFill>
                      <a:srgbClr val="002060"/>
                    </a:solidFill>
                  </a:rPr>
                  <a:t>uvodimo dva pojma: </a:t>
                </a:r>
                <a:r>
                  <a:rPr lang="hr-HR" b="1" dirty="0">
                    <a:solidFill>
                      <a:srgbClr val="002060"/>
                    </a:solidFill>
                  </a:rPr>
                  <a:t>prefiks</a:t>
                </a:r>
                <a:r>
                  <a:rPr lang="hr-HR" dirty="0">
                    <a:solidFill>
                      <a:srgbClr val="002060"/>
                    </a:solidFill>
                  </a:rPr>
                  <a:t> i </a:t>
                </a:r>
                <a:r>
                  <a:rPr lang="hr-HR" b="1" dirty="0">
                    <a:solidFill>
                      <a:srgbClr val="002060"/>
                    </a:solidFill>
                  </a:rPr>
                  <a:t>sufiks</a:t>
                </a:r>
              </a:p>
              <a:p>
                <a:pPr marL="0" indent="0">
                  <a:buNone/>
                </a:pPr>
                <a:r>
                  <a:rPr lang="hr-HR" b="1" dirty="0">
                    <a:solidFill>
                      <a:srgbClr val="002060"/>
                    </a:solidFill>
                  </a:rPr>
                  <a:t>Definicija</a:t>
                </a:r>
                <a:r>
                  <a:rPr lang="hr-HR" dirty="0">
                    <a:solidFill>
                      <a:srgbClr val="002060"/>
                    </a:solidFill>
                  </a:rPr>
                  <a:t>: Neka je </a:t>
                </a:r>
                <a14:m>
                  <m:oMath xmlns:m="http://schemas.openxmlformats.org/officeDocument/2006/math">
                    <m:r>
                      <a:rPr lang="hr-HR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hr-HR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hr-HR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d>
                      <m:dPr>
                        <m:begChr m:val="["/>
                        <m:endChr m:val="]"/>
                        <m:ctrlPr>
                          <a:rPr lang="hr-HR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hr-HR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0 :</m:t>
                        </m:r>
                        <m:r>
                          <a:rPr lang="hr-HR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hr-HR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−1</m:t>
                        </m:r>
                      </m:e>
                    </m:d>
                    <m:r>
                      <a:rPr lang="hr-HR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hr-HR" dirty="0" err="1">
                    <a:solidFill>
                      <a:srgbClr val="002060"/>
                    </a:solidFill>
                  </a:rPr>
                  <a:t>string</a:t>
                </a:r>
                <a:r>
                  <a:rPr lang="hr-HR" dirty="0">
                    <a:solidFill>
                      <a:srgbClr val="002060"/>
                    </a:solidFill>
                  </a:rPr>
                  <a:t> duljine </a:t>
                </a:r>
                <a:r>
                  <a:rPr lang="hr-HR" i="1" dirty="0">
                    <a:solidFill>
                      <a:srgbClr val="002060"/>
                    </a:solidFill>
                  </a:rPr>
                  <a:t>k</a:t>
                </a:r>
                <a:r>
                  <a:rPr lang="hr-HR" dirty="0">
                    <a:solidFill>
                      <a:srgbClr val="002060"/>
                    </a:solidFill>
                  </a:rPr>
                  <a:t>. Za svaki </a:t>
                </a:r>
                <a14:m>
                  <m:oMath xmlns:m="http://schemas.openxmlformats.org/officeDocument/2006/math">
                    <m:r>
                      <a:rPr lang="hr-HR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0 </m:t>
                    </m:r>
                    <m:r>
                      <a:rPr lang="hr-HR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hr-HR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𝑙</m:t>
                    </m:r>
                    <m:r>
                      <a:rPr lang="hr-HR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&lt;</m:t>
                    </m:r>
                    <m:r>
                      <a:rPr lang="hr-HR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hr-HR" dirty="0">
                    <a:solidFill>
                      <a:srgbClr val="002060"/>
                    </a:solidFill>
                  </a:rPr>
                  <a:t> definiramo: </a:t>
                </a:r>
                <a14:m>
                  <m:oMath xmlns:m="http://schemas.openxmlformats.org/officeDocument/2006/math">
                    <m:r>
                      <a:rPr lang="hr-HR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d>
                      <m:dPr>
                        <m:begChr m:val="["/>
                        <m:endChr m:val="]"/>
                        <m:ctrlPr>
                          <a:rPr lang="hr-HR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hr-HR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0 :</m:t>
                        </m:r>
                        <m:r>
                          <a:rPr lang="hr-HR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</m:d>
                  </m:oMath>
                </a14:m>
                <a:r>
                  <a:rPr lang="hr-HR" dirty="0">
                    <a:solidFill>
                      <a:srgbClr val="002060"/>
                    </a:solidFill>
                  </a:rPr>
                  <a:t> kao </a:t>
                </a:r>
                <a:r>
                  <a:rPr lang="hr-HR" b="1" dirty="0">
                    <a:solidFill>
                      <a:srgbClr val="002060"/>
                    </a:solidFill>
                  </a:rPr>
                  <a:t>prefiks</a:t>
                </a:r>
                <a:r>
                  <a:rPr lang="hr-HR" dirty="0">
                    <a:solidFill>
                      <a:srgbClr val="002060"/>
                    </a:solidFill>
                  </a:rPr>
                  <a:t> </a:t>
                </a:r>
                <a:r>
                  <a:rPr lang="hr-HR" dirty="0" err="1">
                    <a:solidFill>
                      <a:srgbClr val="002060"/>
                    </a:solidFill>
                  </a:rPr>
                  <a:t>stringa</a:t>
                </a:r>
                <a:r>
                  <a:rPr lang="hr-HR" dirty="0">
                    <a:solidFill>
                      <a:srgbClr val="00206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hr-HR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hr-HR" dirty="0">
                    <a:solidFill>
                      <a:srgbClr val="002060"/>
                    </a:solidFill>
                  </a:rPr>
                  <a:t>, a </a:t>
                </a:r>
                <a14:m>
                  <m:oMath xmlns:m="http://schemas.openxmlformats.org/officeDocument/2006/math">
                    <m:r>
                      <a:rPr lang="hr-HR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d>
                      <m:dPr>
                        <m:begChr m:val="["/>
                        <m:endChr m:val="]"/>
                        <m:ctrlPr>
                          <a:rPr lang="hr-HR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hr-HR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hr-HR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−</m:t>
                        </m:r>
                        <m:r>
                          <a:rPr lang="hr-HR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hr-HR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hr-HR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−1 </m:t>
                        </m:r>
                        <m:r>
                          <a:rPr lang="hr-HR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a:rPr lang="hr-HR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hr-HR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−1</m:t>
                        </m:r>
                      </m:e>
                    </m:d>
                  </m:oMath>
                </a14:m>
                <a:r>
                  <a:rPr lang="hr-HR" dirty="0">
                    <a:solidFill>
                      <a:srgbClr val="002060"/>
                    </a:solidFill>
                  </a:rPr>
                  <a:t> kao </a:t>
                </a:r>
                <a:r>
                  <a:rPr lang="hr-HR" b="1" dirty="0">
                    <a:solidFill>
                      <a:srgbClr val="002060"/>
                    </a:solidFill>
                  </a:rPr>
                  <a:t>sufiks</a:t>
                </a:r>
                <a:r>
                  <a:rPr lang="hr-HR" dirty="0">
                    <a:solidFill>
                      <a:srgbClr val="002060"/>
                    </a:solidFill>
                  </a:rPr>
                  <a:t> </a:t>
                </a:r>
                <a:r>
                  <a:rPr lang="hr-HR" dirty="0" err="1">
                    <a:solidFill>
                      <a:srgbClr val="002060"/>
                    </a:solidFill>
                  </a:rPr>
                  <a:t>stringa</a:t>
                </a:r>
                <a:r>
                  <a:rPr lang="hr-HR" dirty="0">
                    <a:solidFill>
                      <a:srgbClr val="00206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hr-HR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endParaRPr lang="hr-HR" i="1" dirty="0">
                  <a:solidFill>
                    <a:srgbClr val="002060"/>
                  </a:solidFill>
                </a:endParaRPr>
              </a:p>
              <a:p>
                <a:pPr marL="0" indent="0">
                  <a:buNone/>
                </a:pPr>
                <a:endParaRPr lang="hr-HR" i="1" dirty="0">
                  <a:solidFill>
                    <a:srgbClr val="002060"/>
                  </a:solidFill>
                </a:endParaRPr>
              </a:p>
              <a:p>
                <a:pPr marL="0" indent="0">
                  <a:buNone/>
                </a:pPr>
                <a:r>
                  <a:rPr lang="hr-HR" b="1" dirty="0">
                    <a:solidFill>
                      <a:srgbClr val="002060"/>
                    </a:solidFill>
                  </a:rPr>
                  <a:t>Primjer: </a:t>
                </a:r>
                <a14:m>
                  <m:oMath xmlns:m="http://schemas.openxmlformats.org/officeDocument/2006/math">
                    <m:r>
                      <a:rPr lang="hr-HR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hr-HR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hr-HR" b="0" dirty="0">
                    <a:solidFill>
                      <a:srgbClr val="002060"/>
                    </a:solidFill>
                  </a:rPr>
                  <a:t> </a:t>
                </a:r>
                <a:r>
                  <a:rPr lang="hr-HR" dirty="0">
                    <a:solidFill>
                      <a:srgbClr val="002060"/>
                    </a:solidFill>
                  </a:rPr>
                  <a:t>”</a:t>
                </a:r>
                <a:r>
                  <a:rPr lang="hr-HR" b="0" dirty="0" err="1">
                    <a:solidFill>
                      <a:srgbClr val="002060"/>
                    </a:solidFill>
                  </a:rPr>
                  <a:t>abaca</a:t>
                </a:r>
                <a:r>
                  <a:rPr lang="hr-HR" dirty="0">
                    <a:solidFill>
                      <a:srgbClr val="002060"/>
                    </a:solidFill>
                  </a:rPr>
                  <a:t>”</a:t>
                </a:r>
                <a:endParaRPr lang="hr-HR" b="0" dirty="0">
                  <a:solidFill>
                    <a:srgbClr val="002060"/>
                  </a:solidFill>
                </a:endParaRPr>
              </a:p>
              <a:p>
                <a:pPr marL="0" indent="0">
                  <a:buNone/>
                </a:pPr>
                <a:r>
                  <a:rPr lang="hr-HR" dirty="0">
                    <a:solidFill>
                      <a:srgbClr val="002060"/>
                    </a:solidFill>
                  </a:rPr>
                  <a:t>prefiksi: ””, ”a”, ”</a:t>
                </a:r>
                <a:r>
                  <a:rPr lang="hr-HR" dirty="0" err="1">
                    <a:solidFill>
                      <a:srgbClr val="002060"/>
                    </a:solidFill>
                  </a:rPr>
                  <a:t>ab</a:t>
                </a:r>
                <a:r>
                  <a:rPr lang="hr-HR" dirty="0">
                    <a:solidFill>
                      <a:srgbClr val="002060"/>
                    </a:solidFill>
                  </a:rPr>
                  <a:t>”, ”</a:t>
                </a:r>
                <a:r>
                  <a:rPr lang="hr-HR" dirty="0" err="1">
                    <a:solidFill>
                      <a:srgbClr val="002060"/>
                    </a:solidFill>
                  </a:rPr>
                  <a:t>aba</a:t>
                </a:r>
                <a:r>
                  <a:rPr lang="hr-HR" dirty="0">
                    <a:solidFill>
                      <a:srgbClr val="002060"/>
                    </a:solidFill>
                  </a:rPr>
                  <a:t>”, ”</a:t>
                </a:r>
                <a:r>
                  <a:rPr lang="hr-HR" dirty="0" err="1">
                    <a:solidFill>
                      <a:srgbClr val="002060"/>
                    </a:solidFill>
                  </a:rPr>
                  <a:t>abac</a:t>
                </a:r>
                <a:r>
                  <a:rPr lang="hr-HR" dirty="0">
                    <a:solidFill>
                      <a:srgbClr val="002060"/>
                    </a:solidFill>
                  </a:rPr>
                  <a:t>”</a:t>
                </a:r>
              </a:p>
              <a:p>
                <a:pPr marL="0" indent="0">
                  <a:buNone/>
                </a:pPr>
                <a:r>
                  <a:rPr lang="hr-HR" dirty="0">
                    <a:solidFill>
                      <a:srgbClr val="002060"/>
                    </a:solidFill>
                  </a:rPr>
                  <a:t>sufiksi: ””, ”a”, ”</a:t>
                </a:r>
                <a:r>
                  <a:rPr lang="hr-HR" dirty="0" err="1">
                    <a:solidFill>
                      <a:srgbClr val="002060"/>
                    </a:solidFill>
                  </a:rPr>
                  <a:t>ca</a:t>
                </a:r>
                <a:r>
                  <a:rPr lang="hr-HR" dirty="0">
                    <a:solidFill>
                      <a:srgbClr val="002060"/>
                    </a:solidFill>
                  </a:rPr>
                  <a:t>”, ”</a:t>
                </a:r>
                <a:r>
                  <a:rPr lang="hr-HR" dirty="0" err="1">
                    <a:solidFill>
                      <a:srgbClr val="002060"/>
                    </a:solidFill>
                  </a:rPr>
                  <a:t>aca</a:t>
                </a:r>
                <a:r>
                  <a:rPr lang="hr-HR" dirty="0">
                    <a:solidFill>
                      <a:srgbClr val="002060"/>
                    </a:solidFill>
                  </a:rPr>
                  <a:t>”, ”baca”</a:t>
                </a:r>
              </a:p>
            </p:txBody>
          </p:sp>
        </mc:Choice>
        <mc:Fallback xmlns="">
          <p:sp>
            <p:nvSpPr>
              <p:cNvPr id="3" name="Rezervirano mjesto sadržaja 2">
                <a:extLst>
                  <a:ext uri="{FF2B5EF4-FFF2-40B4-BE49-F238E27FC236}">
                    <a16:creationId xmlns:a16="http://schemas.microsoft.com/office/drawing/2014/main" id="{7FB1A808-8FC6-CFF0-73D0-06FAECF98E9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67" t="-942"/>
                </a:stretch>
              </a:blipFill>
            </p:spPr>
            <p:txBody>
              <a:bodyPr/>
              <a:lstStyle/>
              <a:p>
                <a:r>
                  <a:rPr lang="hr-H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645964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E288EF39-5A26-D643-3578-B6CDB6A3C0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 err="1">
                <a:solidFill>
                  <a:srgbClr val="002060"/>
                </a:solidFill>
              </a:rPr>
              <a:t>Pretprocesiranje</a:t>
            </a:r>
            <a:r>
              <a:rPr lang="hr-HR" dirty="0">
                <a:solidFill>
                  <a:srgbClr val="002060"/>
                </a:solidFill>
              </a:rPr>
              <a:t> – izgradnja </a:t>
            </a:r>
            <a:r>
              <a:rPr lang="hr-HR" i="1" dirty="0" err="1">
                <a:solidFill>
                  <a:srgbClr val="002060"/>
                </a:solidFill>
              </a:rPr>
              <a:t>lps</a:t>
            </a:r>
            <a:r>
              <a:rPr lang="hr-HR" dirty="0">
                <a:solidFill>
                  <a:srgbClr val="002060"/>
                </a:solidFill>
              </a:rPr>
              <a:t> polja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zervirano mjesto sadržaja 2">
                <a:extLst>
                  <a:ext uri="{FF2B5EF4-FFF2-40B4-BE49-F238E27FC236}">
                    <a16:creationId xmlns:a16="http://schemas.microsoft.com/office/drawing/2014/main" id="{7FB1A808-8FC6-CFF0-73D0-06FAECF98E9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hr-HR" i="1" dirty="0">
                    <a:solidFill>
                      <a:srgbClr val="002060"/>
                    </a:solidFill>
                  </a:rPr>
                  <a:t>lps – </a:t>
                </a:r>
                <a:r>
                  <a:rPr lang="hr-HR" dirty="0">
                    <a:solidFill>
                      <a:srgbClr val="002060"/>
                    </a:solidFill>
                  </a:rPr>
                  <a:t>najdulji prefiks koji je ujedno i sufiks</a:t>
                </a:r>
              </a:p>
              <a:p>
                <a:r>
                  <a:rPr lang="hr-HR" b="1" i="1" dirty="0" err="1">
                    <a:solidFill>
                      <a:srgbClr val="002060"/>
                    </a:solidFill>
                  </a:rPr>
                  <a:t>lps</a:t>
                </a:r>
                <a:r>
                  <a:rPr lang="hr-HR" b="1" i="1" dirty="0">
                    <a:solidFill>
                      <a:srgbClr val="002060"/>
                    </a:solidFill>
                  </a:rPr>
                  <a:t> </a:t>
                </a:r>
                <a:r>
                  <a:rPr lang="hr-HR" b="1" dirty="0">
                    <a:solidFill>
                      <a:srgbClr val="002060"/>
                    </a:solidFill>
                  </a:rPr>
                  <a:t>polje</a:t>
                </a:r>
                <a:r>
                  <a:rPr lang="hr-HR" b="1" i="1" dirty="0">
                    <a:solidFill>
                      <a:srgbClr val="002060"/>
                    </a:solidFill>
                  </a:rPr>
                  <a:t> </a:t>
                </a:r>
                <a:r>
                  <a:rPr lang="hr-HR" i="1" dirty="0">
                    <a:solidFill>
                      <a:srgbClr val="002060"/>
                    </a:solidFill>
                  </a:rPr>
                  <a:t>- </a:t>
                </a:r>
                <a:r>
                  <a:rPr lang="hr-HR" dirty="0">
                    <a:solidFill>
                      <a:srgbClr val="002060"/>
                    </a:solidFill>
                  </a:rPr>
                  <a:t>za svaki znak uzorka pohranjuje duljinu najvećeg takvog prefiksa koji je ujedno i sufiks</a:t>
                </a:r>
              </a:p>
              <a:p>
                <a:r>
                  <a:rPr lang="hr-HR" dirty="0">
                    <a:solidFill>
                      <a:srgbClr val="002060"/>
                    </a:solidFill>
                  </a:rPr>
                  <a:t>jednake veličine kao i uzorak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hr-HR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𝑙𝑝𝑠</m:t>
                    </m:r>
                    <m:d>
                      <m:dPr>
                        <m:begChr m:val="["/>
                        <m:endChr m:val="]"/>
                        <m:ctrlPr>
                          <a:rPr lang="hr-HR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hr-HR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hr-HR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hr-HR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max</m:t>
                    </m:r>
                    <m:r>
                      <a:rPr lang="hr-HR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{</m:t>
                    </m:r>
                    <m:r>
                      <a:rPr lang="hr-HR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hr-HR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:</m:t>
                    </m:r>
                    <m:r>
                      <a:rPr lang="hr-HR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hr-HR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hr-HR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hr-HR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;</m:t>
                    </m:r>
                    <m:r>
                      <a:rPr lang="hr-HR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hr-HR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[0 :</m:t>
                    </m:r>
                    <m:r>
                      <a:rPr lang="hr-HR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hr-HR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hr-HR" i="1" dirty="0">
                    <a:solidFill>
                      <a:srgbClr val="002060"/>
                    </a:solidFill>
                  </a:rPr>
                  <a:t> </a:t>
                </a:r>
                <a:r>
                  <a:rPr lang="hr-HR" dirty="0">
                    <a:solidFill>
                      <a:srgbClr val="002060"/>
                    </a:solidFill>
                  </a:rPr>
                  <a:t>je sufiks za </a:t>
                </a:r>
                <a14:m>
                  <m:oMath xmlns:m="http://schemas.openxmlformats.org/officeDocument/2006/math">
                    <m:r>
                      <a:rPr lang="hr-HR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hr-HR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[0 :</m:t>
                    </m:r>
                    <m:r>
                      <a:rPr lang="hr-HR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hr-HR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]}</m:t>
                    </m:r>
                  </m:oMath>
                </a14:m>
                <a:endParaRPr lang="hr-HR" dirty="0">
                  <a:solidFill>
                    <a:srgbClr val="002060"/>
                  </a:solidFill>
                </a:endParaRPr>
              </a:p>
              <a:p>
                <a:r>
                  <a:rPr lang="hr-HR" dirty="0">
                    <a:solidFill>
                      <a:srgbClr val="002060"/>
                    </a:solidFill>
                  </a:rPr>
                  <a:t>primijetimo: </a:t>
                </a:r>
                <a14:m>
                  <m:oMath xmlns:m="http://schemas.openxmlformats.org/officeDocument/2006/math">
                    <m:r>
                      <a:rPr lang="hr-HR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𝑙𝑝𝑠</m:t>
                    </m:r>
                    <m:d>
                      <m:dPr>
                        <m:begChr m:val="["/>
                        <m:endChr m:val="]"/>
                        <m:ctrlPr>
                          <a:rPr lang="hr-HR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hr-HR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hr-HR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hr-HR" dirty="0">
                    <a:solidFill>
                      <a:srgbClr val="002060"/>
                    </a:solidFill>
                  </a:rPr>
                  <a:t> </a:t>
                </a:r>
              </a:p>
              <a:p>
                <a:r>
                  <a:rPr lang="hr-HR" dirty="0">
                    <a:solidFill>
                      <a:srgbClr val="002060"/>
                    </a:solidFill>
                  </a:rPr>
                  <a:t>funkcija </a:t>
                </a:r>
                <a:r>
                  <a:rPr lang="hr-HR" i="1" dirty="0" err="1">
                    <a:solidFill>
                      <a:srgbClr val="002060"/>
                    </a:solidFill>
                  </a:rPr>
                  <a:t>stvori_lps</a:t>
                </a:r>
                <a:r>
                  <a:rPr lang="hr-HR" dirty="0">
                    <a:solidFill>
                      <a:srgbClr val="002060"/>
                    </a:solidFill>
                  </a:rPr>
                  <a:t> – za dani uzorak vraća odgovarajuće </a:t>
                </a:r>
                <a:r>
                  <a:rPr lang="hr-HR" i="1" dirty="0" err="1">
                    <a:solidFill>
                      <a:srgbClr val="002060"/>
                    </a:solidFill>
                  </a:rPr>
                  <a:t>lps</a:t>
                </a:r>
                <a:r>
                  <a:rPr lang="hr-HR" dirty="0">
                    <a:solidFill>
                      <a:srgbClr val="002060"/>
                    </a:solidFill>
                  </a:rPr>
                  <a:t> polje </a:t>
                </a:r>
              </a:p>
              <a:p>
                <a:endParaRPr lang="hr-HR" dirty="0">
                  <a:solidFill>
                    <a:srgbClr val="002060"/>
                  </a:solidFill>
                </a:endParaRPr>
              </a:p>
              <a:p>
                <a:pPr marL="0" indent="0">
                  <a:buNone/>
                </a:pPr>
                <a:endParaRPr lang="hr-HR" b="0" i="1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hr-HR" i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" name="Rezervirano mjesto sadržaja 2">
                <a:extLst>
                  <a:ext uri="{FF2B5EF4-FFF2-40B4-BE49-F238E27FC236}">
                    <a16:creationId xmlns:a16="http://schemas.microsoft.com/office/drawing/2014/main" id="{7FB1A808-8FC6-CFF0-73D0-06FAECF98E9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213" t="-942"/>
                </a:stretch>
              </a:blipFill>
            </p:spPr>
            <p:txBody>
              <a:bodyPr/>
              <a:lstStyle/>
              <a:p>
                <a:r>
                  <a:rPr lang="hr-H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3558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E288EF39-5A26-D643-3578-B6CDB6A3C0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 err="1">
                <a:solidFill>
                  <a:srgbClr val="002060"/>
                </a:solidFill>
              </a:rPr>
              <a:t>Pretprocesiranje</a:t>
            </a:r>
            <a:r>
              <a:rPr lang="hr-HR" dirty="0">
                <a:solidFill>
                  <a:srgbClr val="002060"/>
                </a:solidFill>
              </a:rPr>
              <a:t> – izgradnja </a:t>
            </a:r>
            <a:r>
              <a:rPr lang="hr-HR" i="1" dirty="0" err="1">
                <a:solidFill>
                  <a:srgbClr val="002060"/>
                </a:solidFill>
              </a:rPr>
              <a:t>lps</a:t>
            </a:r>
            <a:r>
              <a:rPr lang="hr-HR" dirty="0">
                <a:solidFill>
                  <a:srgbClr val="002060"/>
                </a:solidFill>
              </a:rPr>
              <a:t> polja</a:t>
            </a:r>
          </a:p>
        </p:txBody>
      </p:sp>
      <p:pic>
        <p:nvPicPr>
          <p:cNvPr id="7" name="Slika 6">
            <a:extLst>
              <a:ext uri="{FF2B5EF4-FFF2-40B4-BE49-F238E27FC236}">
                <a16:creationId xmlns:a16="http://schemas.microsoft.com/office/drawing/2014/main" id="{E91F4F2E-C880-D0AA-5C12-DEEDD704F10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760" t="16389" r="62266" b="43333"/>
          <a:stretch/>
        </p:blipFill>
        <p:spPr>
          <a:xfrm>
            <a:off x="677334" y="1406569"/>
            <a:ext cx="5029540" cy="4753054"/>
          </a:xfrm>
          <a:prstGeom prst="rect">
            <a:avLst/>
          </a:prstGeom>
        </p:spPr>
      </p:pic>
      <p:sp>
        <p:nvSpPr>
          <p:cNvPr id="6" name="TekstniOkvir 5">
            <a:extLst>
              <a:ext uri="{FF2B5EF4-FFF2-40B4-BE49-F238E27FC236}">
                <a16:creationId xmlns:a16="http://schemas.microsoft.com/office/drawing/2014/main" id="{321DB3FE-107F-592F-FB07-FA07E8DA5CBA}"/>
              </a:ext>
            </a:extLst>
          </p:cNvPr>
          <p:cNvSpPr txBox="1"/>
          <p:nvPr/>
        </p:nvSpPr>
        <p:spPr>
          <a:xfrm>
            <a:off x="745724" y="6338656"/>
            <a:ext cx="40393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sz="1600" dirty="0">
                <a:solidFill>
                  <a:srgbClr val="002060"/>
                </a:solidFill>
              </a:rPr>
              <a:t>Implementacija funkcije </a:t>
            </a:r>
            <a:r>
              <a:rPr lang="hr-HR" sz="1600" i="1" dirty="0" err="1">
                <a:solidFill>
                  <a:srgbClr val="002060"/>
                </a:solidFill>
              </a:rPr>
              <a:t>stvori_lps</a:t>
            </a:r>
            <a:r>
              <a:rPr lang="hr-HR" sz="1600" dirty="0">
                <a:solidFill>
                  <a:srgbClr val="002060"/>
                </a:solidFill>
              </a:rPr>
              <a:t> u C-u</a:t>
            </a:r>
          </a:p>
        </p:txBody>
      </p:sp>
      <p:pic>
        <p:nvPicPr>
          <p:cNvPr id="8" name="Slika 7" descr="Slika na kojoj se prikazuje tekst, snimka zaslona, Trokut, Font&#10;&#10;Opis je automatski generiran">
            <a:extLst>
              <a:ext uri="{FF2B5EF4-FFF2-40B4-BE49-F238E27FC236}">
                <a16:creationId xmlns:a16="http://schemas.microsoft.com/office/drawing/2014/main" id="{2EA8E773-55B5-8102-6F5A-1C1B9012FA0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40" b="7683"/>
          <a:stretch/>
        </p:blipFill>
        <p:spPr bwMode="auto">
          <a:xfrm>
            <a:off x="6676163" y="1262143"/>
            <a:ext cx="4691664" cy="4986257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9" name="TekstniOkvir 8">
            <a:extLst>
              <a:ext uri="{FF2B5EF4-FFF2-40B4-BE49-F238E27FC236}">
                <a16:creationId xmlns:a16="http://schemas.microsoft.com/office/drawing/2014/main" id="{4087BD63-80A2-606F-47B2-8F87C456D03D}"/>
              </a:ext>
            </a:extLst>
          </p:cNvPr>
          <p:cNvSpPr txBox="1"/>
          <p:nvPr/>
        </p:nvSpPr>
        <p:spPr>
          <a:xfrm>
            <a:off x="6633208" y="6338656"/>
            <a:ext cx="47775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sz="1600" dirty="0">
                <a:solidFill>
                  <a:srgbClr val="002060"/>
                </a:solidFill>
              </a:rPr>
              <a:t>Primjer gradnje </a:t>
            </a:r>
            <a:r>
              <a:rPr lang="hr-HR" sz="1600" dirty="0" err="1">
                <a:solidFill>
                  <a:srgbClr val="002060"/>
                </a:solidFill>
              </a:rPr>
              <a:t>lps</a:t>
            </a:r>
            <a:r>
              <a:rPr lang="hr-HR" sz="1600" dirty="0">
                <a:solidFill>
                  <a:srgbClr val="002060"/>
                </a:solidFill>
              </a:rPr>
              <a:t> liste za </a:t>
            </a:r>
            <a:r>
              <a:rPr lang="hr-HR" sz="1600" dirty="0" err="1">
                <a:solidFill>
                  <a:srgbClr val="002060"/>
                </a:solidFill>
              </a:rPr>
              <a:t>string</a:t>
            </a:r>
            <a:r>
              <a:rPr lang="hr-HR" sz="1600" dirty="0">
                <a:solidFill>
                  <a:srgbClr val="002060"/>
                </a:solidFill>
              </a:rPr>
              <a:t> ” </a:t>
            </a:r>
            <a:r>
              <a:rPr lang="hr-HR" sz="1600" dirty="0" err="1">
                <a:solidFill>
                  <a:srgbClr val="002060"/>
                </a:solidFill>
              </a:rPr>
              <a:t>ababaa</a:t>
            </a:r>
            <a:r>
              <a:rPr lang="hr-HR" sz="1600" dirty="0">
                <a:solidFill>
                  <a:srgbClr val="002060"/>
                </a:solidFill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437969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E288EF39-5A26-D643-3578-B6CDB6A3C0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 err="1">
                <a:solidFill>
                  <a:srgbClr val="002060"/>
                </a:solidFill>
              </a:rPr>
              <a:t>Pretprocesiranje</a:t>
            </a:r>
            <a:r>
              <a:rPr lang="hr-HR" dirty="0">
                <a:solidFill>
                  <a:srgbClr val="002060"/>
                </a:solidFill>
              </a:rPr>
              <a:t> – složenost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7FB1A808-8FC6-CFF0-73D0-06FAECF98E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r-HR" dirty="0">
                <a:solidFill>
                  <a:srgbClr val="002060"/>
                </a:solidFill>
              </a:rPr>
              <a:t>prostorna složenost: </a:t>
            </a:r>
            <a:r>
              <a:rPr lang="hr-HR" dirty="0">
                <a:solidFill>
                  <a:srgbClr val="002060"/>
                </a:solidFill>
                <a:latin typeface="Lucida Calligraphy" panose="03010101010101010101" pitchFamily="66" charset="0"/>
              </a:rPr>
              <a:t>O</a:t>
            </a:r>
            <a:r>
              <a:rPr lang="hr-HR" dirty="0">
                <a:solidFill>
                  <a:srgbClr val="002060"/>
                </a:solidFill>
              </a:rPr>
              <a:t>(</a:t>
            </a:r>
            <a:r>
              <a:rPr lang="hr-HR" i="1" dirty="0">
                <a:solidFill>
                  <a:srgbClr val="002060"/>
                </a:solidFill>
              </a:rPr>
              <a:t>m</a:t>
            </a:r>
            <a:r>
              <a:rPr lang="hr-HR" dirty="0">
                <a:solidFill>
                  <a:srgbClr val="002060"/>
                </a:solidFill>
              </a:rPr>
              <a:t>) – stvaramo novo polje veličine </a:t>
            </a:r>
            <a:r>
              <a:rPr lang="hr-HR" i="1" dirty="0">
                <a:solidFill>
                  <a:srgbClr val="002060"/>
                </a:solidFill>
              </a:rPr>
              <a:t>m</a:t>
            </a:r>
          </a:p>
          <a:p>
            <a:r>
              <a:rPr lang="hr-HR" dirty="0">
                <a:solidFill>
                  <a:srgbClr val="002060"/>
                </a:solidFill>
              </a:rPr>
              <a:t>vremenska složenost: </a:t>
            </a:r>
            <a:r>
              <a:rPr lang="hr-HR" dirty="0">
                <a:solidFill>
                  <a:srgbClr val="002060"/>
                </a:solidFill>
                <a:latin typeface="Lucida Calligraphy" panose="03010101010101010101" pitchFamily="66" charset="0"/>
              </a:rPr>
              <a:t>O</a:t>
            </a:r>
            <a:r>
              <a:rPr lang="hr-HR" dirty="0">
                <a:solidFill>
                  <a:srgbClr val="002060"/>
                </a:solidFill>
              </a:rPr>
              <a:t>(</a:t>
            </a:r>
            <a:r>
              <a:rPr lang="hr-HR" i="1" dirty="0">
                <a:solidFill>
                  <a:srgbClr val="002060"/>
                </a:solidFill>
              </a:rPr>
              <a:t>m</a:t>
            </a:r>
            <a:r>
              <a:rPr lang="hr-HR" dirty="0">
                <a:solidFill>
                  <a:srgbClr val="002060"/>
                </a:solidFill>
              </a:rPr>
              <a:t>)</a:t>
            </a:r>
          </a:p>
          <a:p>
            <a:pPr marL="0" indent="0">
              <a:buNone/>
            </a:pPr>
            <a:r>
              <a:rPr lang="hr-HR" dirty="0">
                <a:solidFill>
                  <a:srgbClr val="002060"/>
                </a:solidFill>
              </a:rPr>
              <a:t>Ideja: pokazati da se </a:t>
            </a:r>
            <a:r>
              <a:rPr lang="hr-HR" dirty="0" err="1">
                <a:solidFill>
                  <a:srgbClr val="002060"/>
                </a:solidFill>
              </a:rPr>
              <a:t>while</a:t>
            </a:r>
            <a:r>
              <a:rPr lang="hr-HR" dirty="0">
                <a:solidFill>
                  <a:srgbClr val="002060"/>
                </a:solidFill>
              </a:rPr>
              <a:t> petlja izvršava najviše </a:t>
            </a:r>
            <a:r>
              <a:rPr lang="hr-HR" i="1" dirty="0">
                <a:solidFill>
                  <a:srgbClr val="002060"/>
                </a:solidFill>
              </a:rPr>
              <a:t>m</a:t>
            </a:r>
            <a:r>
              <a:rPr lang="hr-HR" dirty="0">
                <a:solidFill>
                  <a:srgbClr val="002060"/>
                </a:solidFill>
              </a:rPr>
              <a:t> – 1 puta sveukupno</a:t>
            </a:r>
          </a:p>
          <a:p>
            <a:pPr marL="0" indent="0">
              <a:buNone/>
            </a:pPr>
            <a:r>
              <a:rPr lang="hr-HR" dirty="0">
                <a:solidFill>
                  <a:srgbClr val="002060"/>
                </a:solidFill>
              </a:rPr>
              <a:t>gornja ograda je broj ukupnog povećanja </a:t>
            </a:r>
            <a:r>
              <a:rPr lang="hr-HR" i="1" dirty="0">
                <a:solidFill>
                  <a:srgbClr val="002060"/>
                </a:solidFill>
              </a:rPr>
              <a:t>k</a:t>
            </a:r>
            <a:r>
              <a:rPr lang="hr-HR" dirty="0">
                <a:solidFill>
                  <a:srgbClr val="002060"/>
                </a:solidFill>
              </a:rPr>
              <a:t> u cijelom foru</a:t>
            </a:r>
          </a:p>
          <a:p>
            <a:pPr marL="0" indent="0">
              <a:buNone/>
            </a:pPr>
            <a:endParaRPr lang="hr-HR" i="1" dirty="0">
              <a:solidFill>
                <a:srgbClr val="002060"/>
              </a:solidFill>
            </a:endParaRPr>
          </a:p>
          <a:p>
            <a:pPr marL="0" indent="0">
              <a:buNone/>
            </a:pPr>
            <a:endParaRPr lang="hr-HR" b="0" i="1" dirty="0">
              <a:solidFill>
                <a:srgbClr val="002060"/>
              </a:solidFill>
              <a:latin typeface="Cambria Math" panose="02040503050406030204" pitchFamily="18" charset="0"/>
            </a:endParaRPr>
          </a:p>
          <a:p>
            <a:pPr marL="0" indent="0">
              <a:buNone/>
            </a:pPr>
            <a:endParaRPr lang="hr-HR" i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94412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E288EF39-5A26-D643-3578-B6CDB6A3C0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>
                <a:solidFill>
                  <a:srgbClr val="002060"/>
                </a:solidFill>
              </a:rPr>
              <a:t>Pretraživanje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zervirano mjesto sadržaja 2">
                <a:extLst>
                  <a:ext uri="{FF2B5EF4-FFF2-40B4-BE49-F238E27FC236}">
                    <a16:creationId xmlns:a16="http://schemas.microsoft.com/office/drawing/2014/main" id="{7FB1A808-8FC6-CFF0-73D0-06FAECF98E9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9565" y="1690073"/>
                <a:ext cx="4516103" cy="3880773"/>
              </a:xfrm>
            </p:spPr>
            <p:txBody>
              <a:bodyPr/>
              <a:lstStyle/>
              <a:p>
                <a:r>
                  <a:rPr lang="hr-HR" dirty="0">
                    <a:solidFill>
                      <a:srgbClr val="002060"/>
                    </a:solidFill>
                  </a:rPr>
                  <a:t>funkcija </a:t>
                </a:r>
                <a:r>
                  <a:rPr lang="hr-HR" i="1" dirty="0">
                    <a:solidFill>
                      <a:srgbClr val="002060"/>
                    </a:solidFill>
                  </a:rPr>
                  <a:t>KMP – </a:t>
                </a:r>
                <a:r>
                  <a:rPr lang="hr-HR" dirty="0">
                    <a:solidFill>
                      <a:srgbClr val="002060"/>
                    </a:solidFill>
                  </a:rPr>
                  <a:t>traži sve početne indekse pojavljivanja danog uzorka u danom tekstu</a:t>
                </a:r>
              </a:p>
              <a:p>
                <a:r>
                  <a:rPr lang="hr-HR" dirty="0">
                    <a:solidFill>
                      <a:srgbClr val="002060"/>
                    </a:solidFill>
                  </a:rPr>
                  <a:t>uporaba </a:t>
                </a:r>
                <a:r>
                  <a:rPr lang="hr-HR" i="1" dirty="0" err="1">
                    <a:solidFill>
                      <a:srgbClr val="002060"/>
                    </a:solidFill>
                  </a:rPr>
                  <a:t>lps</a:t>
                </a:r>
                <a:r>
                  <a:rPr lang="hr-HR" dirty="0">
                    <a:solidFill>
                      <a:srgbClr val="002060"/>
                    </a:solidFill>
                  </a:rPr>
                  <a:t> polja</a:t>
                </a:r>
              </a:p>
              <a:p>
                <a:r>
                  <a:rPr lang="hr-HR" dirty="0">
                    <a:solidFill>
                      <a:srgbClr val="002060"/>
                    </a:solidFill>
                  </a:rPr>
                  <a:t>pretpostavljamo: </a:t>
                </a:r>
                <a14:m>
                  <m:oMath xmlns:m="http://schemas.openxmlformats.org/officeDocument/2006/math">
                    <m:r>
                      <a:rPr lang="hr-HR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hr-HR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≥</m:t>
                    </m:r>
                    <m:r>
                      <a:rPr lang="hr-HR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  <m:r>
                      <a:rPr lang="hr-HR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&gt;0</m:t>
                    </m:r>
                  </m:oMath>
                </a14:m>
                <a:endParaRPr lang="hr-HR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" name="Rezervirano mjesto sadržaja 2">
                <a:extLst>
                  <a:ext uri="{FF2B5EF4-FFF2-40B4-BE49-F238E27FC236}">
                    <a16:creationId xmlns:a16="http://schemas.microsoft.com/office/drawing/2014/main" id="{7FB1A808-8FC6-CFF0-73D0-06FAECF98E9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9565" y="1690073"/>
                <a:ext cx="4516103" cy="3880773"/>
              </a:xfrm>
              <a:blipFill>
                <a:blip r:embed="rId2"/>
                <a:stretch>
                  <a:fillRect l="-270" t="-942"/>
                </a:stretch>
              </a:blipFill>
            </p:spPr>
            <p:txBody>
              <a:bodyPr/>
              <a:lstStyle/>
              <a:p>
                <a:r>
                  <a:rPr lang="hr-H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Slika 4">
            <a:extLst>
              <a:ext uri="{FF2B5EF4-FFF2-40B4-BE49-F238E27FC236}">
                <a16:creationId xmlns:a16="http://schemas.microsoft.com/office/drawing/2014/main" id="{9E7E9098-617B-193C-16C9-3EE99CF7483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980" t="31505" r="53544" b="22330"/>
          <a:stretch/>
        </p:blipFill>
        <p:spPr>
          <a:xfrm>
            <a:off x="5268937" y="1000213"/>
            <a:ext cx="6463498" cy="5168287"/>
          </a:xfrm>
          <a:prstGeom prst="rect">
            <a:avLst/>
          </a:prstGeom>
        </p:spPr>
      </p:pic>
      <p:sp>
        <p:nvSpPr>
          <p:cNvPr id="6" name="TekstniOkvir 5">
            <a:extLst>
              <a:ext uri="{FF2B5EF4-FFF2-40B4-BE49-F238E27FC236}">
                <a16:creationId xmlns:a16="http://schemas.microsoft.com/office/drawing/2014/main" id="{F72D7652-603C-7C39-DA98-28DB03CD1968}"/>
              </a:ext>
            </a:extLst>
          </p:cNvPr>
          <p:cNvSpPr txBox="1"/>
          <p:nvPr/>
        </p:nvSpPr>
        <p:spPr>
          <a:xfrm>
            <a:off x="5575177" y="6389836"/>
            <a:ext cx="40393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sz="1600" dirty="0">
                <a:solidFill>
                  <a:srgbClr val="002060"/>
                </a:solidFill>
              </a:rPr>
              <a:t>Implementacija funkcije </a:t>
            </a:r>
            <a:r>
              <a:rPr lang="hr-HR" sz="1600" i="1" dirty="0">
                <a:solidFill>
                  <a:srgbClr val="002060"/>
                </a:solidFill>
              </a:rPr>
              <a:t>KMP </a:t>
            </a:r>
            <a:r>
              <a:rPr lang="hr-HR" sz="1600" dirty="0">
                <a:solidFill>
                  <a:srgbClr val="002060"/>
                </a:solidFill>
              </a:rPr>
              <a:t>u C-u</a:t>
            </a:r>
          </a:p>
        </p:txBody>
      </p:sp>
    </p:spTree>
    <p:extLst>
      <p:ext uri="{BB962C8B-B14F-4D97-AF65-F5344CB8AC3E}">
        <p14:creationId xmlns:p14="http://schemas.microsoft.com/office/powerpoint/2010/main" val="565919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E288EF39-5A26-D643-3578-B6CDB6A3C0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>
                <a:solidFill>
                  <a:srgbClr val="002060"/>
                </a:solidFill>
              </a:rPr>
              <a:t>Pretraživanje - primjer</a:t>
            </a:r>
          </a:p>
        </p:txBody>
      </p:sp>
      <p:pic>
        <p:nvPicPr>
          <p:cNvPr id="11" name="Slika 10">
            <a:extLst>
              <a:ext uri="{FF2B5EF4-FFF2-40B4-BE49-F238E27FC236}">
                <a16:creationId xmlns:a16="http://schemas.microsoft.com/office/drawing/2014/main" id="{56F2004F-ED35-868B-6B6E-8A0C5675225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8125" t="25417" r="28125" b="46250"/>
          <a:stretch/>
        </p:blipFill>
        <p:spPr>
          <a:xfrm>
            <a:off x="677334" y="1619249"/>
            <a:ext cx="7216587" cy="2628901"/>
          </a:xfrm>
          <a:prstGeom prst="rect">
            <a:avLst/>
          </a:prstGeom>
        </p:spPr>
      </p:pic>
      <p:sp>
        <p:nvSpPr>
          <p:cNvPr id="13" name="Rezervirano mjesto sadržaja 2">
            <a:extLst>
              <a:ext uri="{FF2B5EF4-FFF2-40B4-BE49-F238E27FC236}">
                <a16:creationId xmlns:a16="http://schemas.microsoft.com/office/drawing/2014/main" id="{BA8B1FB1-CE82-1160-3D96-33EDE314E6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4420107"/>
            <a:ext cx="7216586" cy="2113858"/>
          </a:xfrm>
        </p:spPr>
        <p:txBody>
          <a:bodyPr>
            <a:normAutofit/>
          </a:bodyPr>
          <a:lstStyle/>
          <a:p>
            <a:r>
              <a:rPr lang="hr-HR" dirty="0">
                <a:solidFill>
                  <a:srgbClr val="002060"/>
                </a:solidFill>
              </a:rPr>
              <a:t>svi znakovi bili podudarni dosad pa smo </a:t>
            </a:r>
            <a:r>
              <a:rPr lang="hr-HR" i="1" dirty="0">
                <a:solidFill>
                  <a:srgbClr val="002060"/>
                </a:solidFill>
              </a:rPr>
              <a:t>i</a:t>
            </a:r>
            <a:r>
              <a:rPr lang="hr-HR" dirty="0">
                <a:solidFill>
                  <a:srgbClr val="002060"/>
                </a:solidFill>
              </a:rPr>
              <a:t> </a:t>
            </a:r>
            <a:r>
              <a:rPr lang="hr-HR" dirty="0" err="1">
                <a:solidFill>
                  <a:srgbClr val="002060"/>
                </a:solidFill>
              </a:rPr>
              <a:t>i</a:t>
            </a:r>
            <a:r>
              <a:rPr lang="hr-HR" dirty="0">
                <a:solidFill>
                  <a:srgbClr val="002060"/>
                </a:solidFill>
              </a:rPr>
              <a:t> </a:t>
            </a:r>
            <a:r>
              <a:rPr lang="hr-HR" i="1" dirty="0">
                <a:solidFill>
                  <a:srgbClr val="002060"/>
                </a:solidFill>
              </a:rPr>
              <a:t>j</a:t>
            </a:r>
            <a:r>
              <a:rPr lang="hr-HR" dirty="0">
                <a:solidFill>
                  <a:srgbClr val="002060"/>
                </a:solidFill>
              </a:rPr>
              <a:t> (u kodu </a:t>
            </a:r>
            <a:r>
              <a:rPr lang="hr-HR" i="1" dirty="0">
                <a:solidFill>
                  <a:srgbClr val="002060"/>
                </a:solidFill>
              </a:rPr>
              <a:t>q</a:t>
            </a:r>
            <a:r>
              <a:rPr lang="hr-HR" dirty="0">
                <a:solidFill>
                  <a:srgbClr val="002060"/>
                </a:solidFill>
              </a:rPr>
              <a:t>) samo </a:t>
            </a:r>
            <a:r>
              <a:rPr lang="hr-HR" dirty="0" err="1">
                <a:solidFill>
                  <a:srgbClr val="002060"/>
                </a:solidFill>
              </a:rPr>
              <a:t>inkrementirali</a:t>
            </a:r>
            <a:endParaRPr lang="hr-HR" dirty="0">
              <a:solidFill>
                <a:srgbClr val="002060"/>
              </a:solidFill>
            </a:endParaRPr>
          </a:p>
          <a:p>
            <a:r>
              <a:rPr lang="hr-HR" dirty="0">
                <a:solidFill>
                  <a:srgbClr val="002060"/>
                </a:solidFill>
              </a:rPr>
              <a:t>KMP vs. naivni </a:t>
            </a:r>
          </a:p>
          <a:p>
            <a:r>
              <a:rPr lang="hr-HR" dirty="0">
                <a:solidFill>
                  <a:srgbClr val="002060"/>
                </a:solidFill>
              </a:rPr>
              <a:t>uzorak </a:t>
            </a:r>
            <a:r>
              <a:rPr lang="hr-HR" i="1" dirty="0">
                <a:solidFill>
                  <a:srgbClr val="002060"/>
                </a:solidFill>
              </a:rPr>
              <a:t>T[0 : i – 1] - </a:t>
            </a:r>
            <a:r>
              <a:rPr lang="hr-HR" dirty="0">
                <a:solidFill>
                  <a:srgbClr val="002060"/>
                </a:solidFill>
              </a:rPr>
              <a:t>najdulji </a:t>
            </a:r>
            <a:r>
              <a:rPr lang="hr-HR" i="1" dirty="0" err="1">
                <a:solidFill>
                  <a:srgbClr val="002060"/>
                </a:solidFill>
              </a:rPr>
              <a:t>lps</a:t>
            </a:r>
            <a:r>
              <a:rPr lang="hr-HR" dirty="0">
                <a:solidFill>
                  <a:srgbClr val="002060"/>
                </a:solidFill>
              </a:rPr>
              <a:t> ima duljinu </a:t>
            </a:r>
            <a:r>
              <a:rPr lang="hr-HR" dirty="0">
                <a:solidFill>
                  <a:srgbClr val="FF0000"/>
                </a:solidFill>
              </a:rPr>
              <a:t>2</a:t>
            </a:r>
            <a:r>
              <a:rPr lang="hr-HR" dirty="0">
                <a:solidFill>
                  <a:srgbClr val="002060"/>
                </a:solidFill>
              </a:rPr>
              <a:t> </a:t>
            </a:r>
            <a:r>
              <a:rPr lang="hr-HR" dirty="0">
                <a:solidFill>
                  <a:srgbClr val="002060"/>
                </a:solidFill>
                <a:sym typeface="Wingdings" panose="05000000000000000000" pitchFamily="2" charset="2"/>
              </a:rPr>
              <a:t> </a:t>
            </a:r>
            <a:r>
              <a:rPr lang="hr-HR" i="1" dirty="0">
                <a:solidFill>
                  <a:srgbClr val="002060"/>
                </a:solidFill>
                <a:sym typeface="Wingdings" panose="05000000000000000000" pitchFamily="2" charset="2"/>
              </a:rPr>
              <a:t>T[0 : i – 1 – </a:t>
            </a:r>
            <a:r>
              <a:rPr lang="hr-HR" i="1" dirty="0">
                <a:solidFill>
                  <a:srgbClr val="FF0000"/>
                </a:solidFill>
                <a:sym typeface="Wingdings" panose="05000000000000000000" pitchFamily="2" charset="2"/>
              </a:rPr>
              <a:t>2</a:t>
            </a:r>
            <a:r>
              <a:rPr lang="hr-HR" i="1" dirty="0">
                <a:solidFill>
                  <a:srgbClr val="002060"/>
                </a:solidFill>
                <a:sym typeface="Wingdings" panose="05000000000000000000" pitchFamily="2" charset="2"/>
              </a:rPr>
              <a:t>] = T[i – 1 – </a:t>
            </a:r>
            <a:r>
              <a:rPr lang="hr-HR" i="1" dirty="0">
                <a:solidFill>
                  <a:srgbClr val="FF0000"/>
                </a:solidFill>
                <a:sym typeface="Wingdings" panose="05000000000000000000" pitchFamily="2" charset="2"/>
              </a:rPr>
              <a:t>1</a:t>
            </a:r>
            <a:r>
              <a:rPr lang="hr-HR" i="1" dirty="0">
                <a:solidFill>
                  <a:srgbClr val="002060"/>
                </a:solidFill>
                <a:sym typeface="Wingdings" panose="05000000000000000000" pitchFamily="2" charset="2"/>
              </a:rPr>
              <a:t> : i – 1]</a:t>
            </a:r>
            <a:endParaRPr lang="hr-HR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39786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E288EF39-5A26-D643-3578-B6CDB6A3C0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>
                <a:solidFill>
                  <a:srgbClr val="002060"/>
                </a:solidFill>
              </a:rPr>
              <a:t>Pretraživanje - primjer</a:t>
            </a:r>
          </a:p>
        </p:txBody>
      </p:sp>
      <p:pic>
        <p:nvPicPr>
          <p:cNvPr id="11" name="Slika 10">
            <a:extLst>
              <a:ext uri="{FF2B5EF4-FFF2-40B4-BE49-F238E27FC236}">
                <a16:creationId xmlns:a16="http://schemas.microsoft.com/office/drawing/2014/main" id="{56F2004F-ED35-868B-6B6E-8A0C5675225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8125" t="25417" r="28125" b="46250"/>
          <a:stretch/>
        </p:blipFill>
        <p:spPr>
          <a:xfrm>
            <a:off x="677333" y="1562099"/>
            <a:ext cx="7216587" cy="2628901"/>
          </a:xfrm>
          <a:prstGeom prst="rect">
            <a:avLst/>
          </a:prstGeom>
        </p:spPr>
      </p:pic>
      <p:pic>
        <p:nvPicPr>
          <p:cNvPr id="4" name="Slika 3">
            <a:extLst>
              <a:ext uri="{FF2B5EF4-FFF2-40B4-BE49-F238E27FC236}">
                <a16:creationId xmlns:a16="http://schemas.microsoft.com/office/drawing/2014/main" id="{60A816C7-1164-950B-20C6-94EB19A42E0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8203" t="26250" r="28047" b="46528"/>
          <a:stretch/>
        </p:blipFill>
        <p:spPr>
          <a:xfrm>
            <a:off x="677334" y="1665194"/>
            <a:ext cx="7216586" cy="252580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zervirano mjesto sadržaja 2">
                <a:extLst>
                  <a:ext uri="{FF2B5EF4-FFF2-40B4-BE49-F238E27FC236}">
                    <a16:creationId xmlns:a16="http://schemas.microsoft.com/office/drawing/2014/main" id="{0BF0C83F-A594-C196-A732-3BB8E1C4AA3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77333" y="4420107"/>
                <a:ext cx="7216586" cy="2113858"/>
              </a:xfrm>
            </p:spPr>
            <p:txBody>
              <a:bodyPr>
                <a:normAutofit/>
              </a:bodyPr>
              <a:lstStyle/>
              <a:p>
                <a:r>
                  <a:rPr lang="hr-HR" i="1" dirty="0">
                    <a:solidFill>
                      <a:srgbClr val="002060"/>
                    </a:solidFill>
                  </a:rPr>
                  <a:t>j</a:t>
                </a:r>
                <a:r>
                  <a:rPr lang="hr-HR" dirty="0">
                    <a:solidFill>
                      <a:srgbClr val="002060"/>
                    </a:solidFill>
                  </a:rPr>
                  <a:t> poprima vrijednost </a:t>
                </a:r>
                <a:r>
                  <a:rPr lang="hr-HR" i="1" dirty="0" err="1">
                    <a:solidFill>
                      <a:srgbClr val="002060"/>
                    </a:solidFill>
                  </a:rPr>
                  <a:t>lps</a:t>
                </a:r>
                <a:r>
                  <a:rPr lang="hr-HR" i="1" dirty="0">
                    <a:solidFill>
                      <a:srgbClr val="002060"/>
                    </a:solidFill>
                  </a:rPr>
                  <a:t>[j – 1]</a:t>
                </a:r>
              </a:p>
              <a:p>
                <a:r>
                  <a:rPr lang="hr-HR" dirty="0">
                    <a:solidFill>
                      <a:srgbClr val="002060"/>
                    </a:solidFill>
                  </a:rPr>
                  <a:t>nastavljamo postupak</a:t>
                </a:r>
              </a:p>
              <a:p>
                <a:pPr algn="just"/>
                <a:r>
                  <a:rPr lang="hr-HR" dirty="0">
                    <a:solidFill>
                      <a:srgbClr val="002060"/>
                    </a:solidFill>
                  </a:rPr>
                  <a:t>ako bi sljedeći znak bio nepodudaran, ponovno bismo smanjili </a:t>
                </a:r>
                <a:r>
                  <a:rPr lang="hr-HR" i="1" dirty="0">
                    <a:solidFill>
                      <a:srgbClr val="002060"/>
                    </a:solidFill>
                  </a:rPr>
                  <a:t>j</a:t>
                </a:r>
              </a:p>
              <a:p>
                <a:pPr marL="0" indent="0" algn="just">
                  <a:buNone/>
                </a:pPr>
                <a:r>
                  <a:rPr lang="hr-HR" dirty="0">
                    <a:solidFill>
                      <a:srgbClr val="002060"/>
                    </a:solidFill>
                  </a:rPr>
                  <a:t>(osiguran izlazak iz </a:t>
                </a:r>
                <a:r>
                  <a:rPr lang="hr-HR" i="1" dirty="0" err="1">
                    <a:solidFill>
                      <a:srgbClr val="002060"/>
                    </a:solidFill>
                  </a:rPr>
                  <a:t>while</a:t>
                </a:r>
                <a:r>
                  <a:rPr lang="hr-HR" dirty="0">
                    <a:solidFill>
                      <a:srgbClr val="002060"/>
                    </a:solidFill>
                  </a:rPr>
                  <a:t> petlje jer </a:t>
                </a:r>
                <a14:m>
                  <m:oMath xmlns:m="http://schemas.openxmlformats.org/officeDocument/2006/math">
                    <m:r>
                      <a:rPr lang="hr-HR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𝑙𝑝𝑠</m:t>
                    </m:r>
                    <m:d>
                      <m:dPr>
                        <m:begChr m:val="["/>
                        <m:endChr m:val="]"/>
                        <m:ctrlPr>
                          <a:rPr lang="hr-HR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hr-HR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e>
                    </m:d>
                    <m:r>
                      <a:rPr lang="hr-HR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&lt; </m:t>
                    </m:r>
                    <m:r>
                      <a:rPr lang="hr-HR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hr-HR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hr-HR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hr-HR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≠0</m:t>
                    </m:r>
                  </m:oMath>
                </a14:m>
                <a:r>
                  <a:rPr lang="hr-HR" dirty="0">
                    <a:solidFill>
                      <a:srgbClr val="002060"/>
                    </a:solidFill>
                  </a:rPr>
                  <a:t>)</a:t>
                </a:r>
              </a:p>
            </p:txBody>
          </p:sp>
        </mc:Choice>
        <mc:Fallback xmlns="">
          <p:sp>
            <p:nvSpPr>
              <p:cNvPr id="5" name="Rezervirano mjesto sadržaja 2">
                <a:extLst>
                  <a:ext uri="{FF2B5EF4-FFF2-40B4-BE49-F238E27FC236}">
                    <a16:creationId xmlns:a16="http://schemas.microsoft.com/office/drawing/2014/main" id="{0BF0C83F-A594-C196-A732-3BB8E1C4AA3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7333" y="4420107"/>
                <a:ext cx="7216586" cy="2113858"/>
              </a:xfrm>
              <a:blipFill>
                <a:blip r:embed="rId4"/>
                <a:stretch>
                  <a:fillRect l="-676" t="-1729"/>
                </a:stretch>
              </a:blipFill>
            </p:spPr>
            <p:txBody>
              <a:bodyPr/>
              <a:lstStyle/>
              <a:p>
                <a:r>
                  <a:rPr lang="hr-H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858445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E288EF39-5A26-D643-3578-B6CDB6A3C0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>
                <a:solidFill>
                  <a:srgbClr val="002060"/>
                </a:solidFill>
              </a:rPr>
              <a:t>Pretraživanje – složenost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7FB1A808-8FC6-CFF0-73D0-06FAECF98E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r-HR" dirty="0">
                <a:solidFill>
                  <a:srgbClr val="002060"/>
                </a:solidFill>
              </a:rPr>
              <a:t>prostorna složenost: </a:t>
            </a:r>
            <a:r>
              <a:rPr lang="hr-HR" dirty="0">
                <a:solidFill>
                  <a:srgbClr val="002060"/>
                </a:solidFill>
                <a:latin typeface="Lucida Calligraphy" panose="03010101010101010101" pitchFamily="66" charset="0"/>
              </a:rPr>
              <a:t>O</a:t>
            </a:r>
            <a:r>
              <a:rPr lang="hr-HR" dirty="0">
                <a:solidFill>
                  <a:srgbClr val="002060"/>
                </a:solidFill>
              </a:rPr>
              <a:t>(</a:t>
            </a:r>
            <a:r>
              <a:rPr lang="hr-HR" i="1" dirty="0">
                <a:solidFill>
                  <a:srgbClr val="002060"/>
                </a:solidFill>
              </a:rPr>
              <a:t>1</a:t>
            </a:r>
            <a:r>
              <a:rPr lang="hr-HR" dirty="0">
                <a:solidFill>
                  <a:srgbClr val="002060"/>
                </a:solidFill>
              </a:rPr>
              <a:t>) - nema dodatnog utroška</a:t>
            </a:r>
          </a:p>
          <a:p>
            <a:r>
              <a:rPr lang="hr-HR" dirty="0">
                <a:solidFill>
                  <a:srgbClr val="002060"/>
                </a:solidFill>
              </a:rPr>
              <a:t>vremenska složenost: </a:t>
            </a:r>
            <a:r>
              <a:rPr lang="hr-HR" dirty="0">
                <a:solidFill>
                  <a:srgbClr val="002060"/>
                </a:solidFill>
                <a:latin typeface="Lucida Calligraphy" panose="03010101010101010101" pitchFamily="66" charset="0"/>
              </a:rPr>
              <a:t>O</a:t>
            </a:r>
            <a:r>
              <a:rPr lang="hr-HR" dirty="0">
                <a:solidFill>
                  <a:srgbClr val="002060"/>
                </a:solidFill>
              </a:rPr>
              <a:t>(</a:t>
            </a:r>
            <a:r>
              <a:rPr lang="hr-HR" i="1" dirty="0">
                <a:solidFill>
                  <a:srgbClr val="002060"/>
                </a:solidFill>
              </a:rPr>
              <a:t>n</a:t>
            </a:r>
            <a:r>
              <a:rPr lang="hr-HR" dirty="0">
                <a:solidFill>
                  <a:srgbClr val="002060"/>
                </a:solidFill>
              </a:rPr>
              <a:t>)</a:t>
            </a:r>
          </a:p>
          <a:p>
            <a:pPr marL="0" indent="0">
              <a:buNone/>
            </a:pPr>
            <a:r>
              <a:rPr lang="hr-HR" dirty="0">
                <a:solidFill>
                  <a:srgbClr val="002060"/>
                </a:solidFill>
              </a:rPr>
              <a:t>(Slična ideja kao i kod </a:t>
            </a:r>
            <a:r>
              <a:rPr lang="hr-HR" dirty="0" err="1">
                <a:solidFill>
                  <a:srgbClr val="002060"/>
                </a:solidFill>
              </a:rPr>
              <a:t>pretprocesiranja</a:t>
            </a:r>
            <a:r>
              <a:rPr lang="hr-HR" dirty="0">
                <a:solidFill>
                  <a:srgbClr val="002060"/>
                </a:solidFill>
              </a:rPr>
              <a:t>)</a:t>
            </a:r>
          </a:p>
          <a:p>
            <a:r>
              <a:rPr lang="hr-HR" dirty="0">
                <a:solidFill>
                  <a:srgbClr val="002060"/>
                </a:solidFill>
              </a:rPr>
              <a:t>Primijetimo da su funkcije </a:t>
            </a:r>
            <a:r>
              <a:rPr lang="hr-HR" i="1" dirty="0">
                <a:solidFill>
                  <a:srgbClr val="002060"/>
                </a:solidFill>
              </a:rPr>
              <a:t>KMP</a:t>
            </a:r>
            <a:r>
              <a:rPr lang="hr-HR" dirty="0">
                <a:solidFill>
                  <a:srgbClr val="002060"/>
                </a:solidFill>
              </a:rPr>
              <a:t> i </a:t>
            </a:r>
            <a:r>
              <a:rPr lang="hr-HR" i="1" dirty="0" err="1">
                <a:solidFill>
                  <a:srgbClr val="002060"/>
                </a:solidFill>
              </a:rPr>
              <a:t>stvori_listu</a:t>
            </a:r>
            <a:r>
              <a:rPr lang="hr-HR" dirty="0">
                <a:solidFill>
                  <a:srgbClr val="002060"/>
                </a:solidFill>
              </a:rPr>
              <a:t> vrlo slične. </a:t>
            </a:r>
            <a:r>
              <a:rPr lang="hr-HR" i="1" dirty="0">
                <a:solidFill>
                  <a:srgbClr val="002060"/>
                </a:solidFill>
              </a:rPr>
              <a:t>KMP</a:t>
            </a:r>
            <a:r>
              <a:rPr lang="hr-HR" dirty="0">
                <a:solidFill>
                  <a:srgbClr val="002060"/>
                </a:solidFill>
              </a:rPr>
              <a:t> uspoređuje tekst i uzorak, a </a:t>
            </a:r>
            <a:r>
              <a:rPr lang="hr-HR" i="1" dirty="0" err="1">
                <a:solidFill>
                  <a:srgbClr val="002060"/>
                </a:solidFill>
              </a:rPr>
              <a:t>stvori_listu</a:t>
            </a:r>
            <a:r>
              <a:rPr lang="hr-HR" dirty="0">
                <a:solidFill>
                  <a:srgbClr val="002060"/>
                </a:solidFill>
              </a:rPr>
              <a:t> uzorak sa samim sobom.</a:t>
            </a:r>
          </a:p>
          <a:p>
            <a:endParaRPr lang="hr-HR" dirty="0">
              <a:solidFill>
                <a:srgbClr val="002060"/>
              </a:solidFill>
            </a:endParaRPr>
          </a:p>
          <a:p>
            <a:pPr marL="0" indent="0">
              <a:buNone/>
            </a:pPr>
            <a:endParaRPr lang="hr-HR" dirty="0">
              <a:solidFill>
                <a:srgbClr val="002060"/>
              </a:solidFill>
            </a:endParaRPr>
          </a:p>
          <a:p>
            <a:pPr marL="0" indent="0">
              <a:buNone/>
            </a:pPr>
            <a:endParaRPr lang="hr-HR" b="0" i="1" dirty="0">
              <a:solidFill>
                <a:srgbClr val="002060"/>
              </a:solidFill>
              <a:latin typeface="Cambria Math" panose="02040503050406030204" pitchFamily="18" charset="0"/>
            </a:endParaRPr>
          </a:p>
          <a:p>
            <a:pPr marL="0" indent="0">
              <a:buNone/>
            </a:pPr>
            <a:endParaRPr lang="hr-HR" i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87619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57C15FE0-C403-1685-A37F-EC1598AE6A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>
                <a:solidFill>
                  <a:srgbClr val="002060"/>
                </a:solidFill>
              </a:rPr>
              <a:t>Empirijska analiza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D9A396D7-6C14-B1FA-3B00-CCC3923BA6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r-HR" dirty="0">
                <a:solidFill>
                  <a:srgbClr val="002060"/>
                </a:solidFill>
              </a:rPr>
              <a:t>Razvojno okruženje: </a:t>
            </a:r>
            <a:r>
              <a:rPr lang="hr-HR" dirty="0" err="1">
                <a:solidFill>
                  <a:srgbClr val="002060"/>
                </a:solidFill>
              </a:rPr>
              <a:t>Dev</a:t>
            </a:r>
            <a:r>
              <a:rPr lang="hr-HR" dirty="0">
                <a:solidFill>
                  <a:srgbClr val="002060"/>
                </a:solidFill>
              </a:rPr>
              <a:t>-C++</a:t>
            </a:r>
          </a:p>
          <a:p>
            <a:r>
              <a:rPr lang="hr-HR" dirty="0">
                <a:solidFill>
                  <a:srgbClr val="002060"/>
                </a:solidFill>
              </a:rPr>
              <a:t>Kod je pisan u programskom jeziku C</a:t>
            </a:r>
          </a:p>
          <a:p>
            <a:r>
              <a:rPr lang="hr-HR" dirty="0">
                <a:solidFill>
                  <a:srgbClr val="002060"/>
                </a:solidFill>
              </a:rPr>
              <a:t>Specifikacije uređaja na kojem se vršilo testiranje</a:t>
            </a:r>
          </a:p>
        </p:txBody>
      </p:sp>
      <p:pic>
        <p:nvPicPr>
          <p:cNvPr id="4" name="Slika 3" descr="Slika na kojoj se prikazuje tekst, snimka zaslona, softver, Ikona na računalu&#10;&#10;Opis je automatski generiran">
            <a:extLst>
              <a:ext uri="{FF2B5EF4-FFF2-40B4-BE49-F238E27FC236}">
                <a16:creationId xmlns:a16="http://schemas.microsoft.com/office/drawing/2014/main" id="{E8D05320-9D08-2DED-8FAF-4DC8B7DE3DA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1680" t="29740" r="46939" b="36236"/>
          <a:stretch/>
        </p:blipFill>
        <p:spPr bwMode="auto">
          <a:xfrm>
            <a:off x="949583" y="3491144"/>
            <a:ext cx="5146417" cy="3138937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40294770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57C15FE0-C403-1685-A37F-EC1598AE6A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>
                <a:solidFill>
                  <a:srgbClr val="002060"/>
                </a:solidFill>
              </a:rPr>
              <a:t>Empirijska analiza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D9A396D7-6C14-B1FA-3B00-CCC3923BA6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9070348" cy="3880773"/>
          </a:xfrm>
        </p:spPr>
        <p:txBody>
          <a:bodyPr/>
          <a:lstStyle/>
          <a:p>
            <a:r>
              <a:rPr lang="hr-HR" dirty="0">
                <a:solidFill>
                  <a:srgbClr val="002060"/>
                </a:solidFill>
              </a:rPr>
              <a:t>Za različite alfabete izabrali različite duljine uzoraka te za svaki od njih gledali tekstove različitih duljina </a:t>
            </a:r>
          </a:p>
          <a:p>
            <a:r>
              <a:rPr lang="hr-HR" dirty="0">
                <a:solidFill>
                  <a:srgbClr val="002060"/>
                </a:solidFill>
              </a:rPr>
              <a:t>Svi uzorci i tekstovi generirani su nasumično</a:t>
            </a:r>
          </a:p>
          <a:p>
            <a:r>
              <a:rPr lang="hr-HR" dirty="0">
                <a:solidFill>
                  <a:srgbClr val="002060"/>
                </a:solidFill>
              </a:rPr>
              <a:t>Za svaki je slučaj provedeno 10 mjerenja</a:t>
            </a:r>
          </a:p>
          <a:p>
            <a:r>
              <a:rPr lang="hr-HR" dirty="0">
                <a:solidFill>
                  <a:srgbClr val="002060"/>
                </a:solidFill>
              </a:rPr>
              <a:t>Uzeli prosječno vrijeme izvršenja (u sekundama)</a:t>
            </a:r>
          </a:p>
          <a:p>
            <a:r>
              <a:rPr lang="hr-HR" dirty="0">
                <a:solidFill>
                  <a:srgbClr val="002060"/>
                </a:solidFill>
              </a:rPr>
              <a:t>Alfabeti koje promatramo jesu:</a:t>
            </a:r>
          </a:p>
          <a:p>
            <a:pPr lvl="1"/>
            <a:r>
              <a:rPr lang="hr-HR" dirty="0">
                <a:solidFill>
                  <a:srgbClr val="002060"/>
                </a:solidFill>
              </a:rPr>
              <a:t>A = {‘a’, ‘b’}</a:t>
            </a:r>
          </a:p>
          <a:p>
            <a:pPr lvl="1"/>
            <a:r>
              <a:rPr lang="hr-HR" dirty="0">
                <a:solidFill>
                  <a:srgbClr val="002060"/>
                </a:solidFill>
              </a:rPr>
              <a:t>A = {‘a’, ‘b’, ‘c’}</a:t>
            </a:r>
          </a:p>
          <a:p>
            <a:pPr lvl="1"/>
            <a:r>
              <a:rPr lang="hr-HR" dirty="0">
                <a:solidFill>
                  <a:srgbClr val="002060"/>
                </a:solidFill>
              </a:rPr>
              <a:t>A = {‘a’, ‘b’,…, ‘z’} (engleska abeceda)</a:t>
            </a:r>
          </a:p>
        </p:txBody>
      </p:sp>
    </p:spTree>
    <p:extLst>
      <p:ext uri="{BB962C8B-B14F-4D97-AF65-F5344CB8AC3E}">
        <p14:creationId xmlns:p14="http://schemas.microsoft.com/office/powerpoint/2010/main" val="22811751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57C15FE0-C403-1685-A37F-EC1598AE6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228410"/>
            <a:ext cx="8596668" cy="775317"/>
          </a:xfrm>
        </p:spPr>
        <p:txBody>
          <a:bodyPr/>
          <a:lstStyle/>
          <a:p>
            <a:r>
              <a:rPr lang="hr-HR" dirty="0">
                <a:solidFill>
                  <a:srgbClr val="002060"/>
                </a:solidFill>
              </a:rPr>
              <a:t>A = {‘a’, ‘b’}</a:t>
            </a:r>
          </a:p>
        </p:txBody>
      </p:sp>
      <p:graphicFrame>
        <p:nvGraphicFramePr>
          <p:cNvPr id="7" name="Tablica 6">
            <a:extLst>
              <a:ext uri="{FF2B5EF4-FFF2-40B4-BE49-F238E27FC236}">
                <a16:creationId xmlns:a16="http://schemas.microsoft.com/office/drawing/2014/main" id="{BDA55666-2A0E-E6EC-7691-B87A922BC6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8928205"/>
              </p:ext>
            </p:extLst>
          </p:nvPr>
        </p:nvGraphicFramePr>
        <p:xfrm>
          <a:off x="677334" y="1154097"/>
          <a:ext cx="3550055" cy="525844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689827">
                  <a:extLst>
                    <a:ext uri="{9D8B030D-6E8A-4147-A177-3AD203B41FA5}">
                      <a16:colId xmlns:a16="http://schemas.microsoft.com/office/drawing/2014/main" val="921203692"/>
                    </a:ext>
                  </a:extLst>
                </a:gridCol>
                <a:gridCol w="715077">
                  <a:extLst>
                    <a:ext uri="{9D8B030D-6E8A-4147-A177-3AD203B41FA5}">
                      <a16:colId xmlns:a16="http://schemas.microsoft.com/office/drawing/2014/main" val="37451153"/>
                    </a:ext>
                  </a:extLst>
                </a:gridCol>
                <a:gridCol w="715050">
                  <a:extLst>
                    <a:ext uri="{9D8B030D-6E8A-4147-A177-3AD203B41FA5}">
                      <a16:colId xmlns:a16="http://schemas.microsoft.com/office/drawing/2014/main" val="196386946"/>
                    </a:ext>
                  </a:extLst>
                </a:gridCol>
                <a:gridCol w="643545">
                  <a:extLst>
                    <a:ext uri="{9D8B030D-6E8A-4147-A177-3AD203B41FA5}">
                      <a16:colId xmlns:a16="http://schemas.microsoft.com/office/drawing/2014/main" val="934964582"/>
                    </a:ext>
                  </a:extLst>
                </a:gridCol>
                <a:gridCol w="786556">
                  <a:extLst>
                    <a:ext uri="{9D8B030D-6E8A-4147-A177-3AD203B41FA5}">
                      <a16:colId xmlns:a16="http://schemas.microsoft.com/office/drawing/2014/main" val="2194052100"/>
                    </a:ext>
                  </a:extLst>
                </a:gridCol>
              </a:tblGrid>
              <a:tr h="247103">
                <a:tc row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 dirty="0">
                          <a:effectLst/>
                        </a:rPr>
                        <a:t>duljina teksta (u tisućama)</a:t>
                      </a:r>
                      <a:endParaRPr lang="hr-HR" sz="105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956" marR="32956" marT="0" marB="0" anchor="ctr"/>
                </a:tc>
                <a:tc gridSpan="4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00" b="1">
                          <a:effectLst/>
                        </a:rPr>
                        <a:t>duljina uzorka</a:t>
                      </a:r>
                      <a:endParaRPr lang="hr-HR" sz="10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956" marR="32956" marT="0" marB="0" anchor="ctr"/>
                </a:tc>
                <a:tc hMerge="1">
                  <a:txBody>
                    <a:bodyPr/>
                    <a:lstStyle/>
                    <a:p>
                      <a:endParaRPr lang="hr-H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hr-H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hr-H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4794"/>
                  </a:ext>
                </a:extLst>
              </a:tr>
              <a:tr h="327968">
                <a:tc vMerge="1">
                  <a:txBody>
                    <a:bodyPr/>
                    <a:lstStyle/>
                    <a:p>
                      <a:endParaRPr lang="hr-H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 dirty="0">
                          <a:effectLst/>
                        </a:rPr>
                        <a:t>10</a:t>
                      </a:r>
                      <a:endParaRPr lang="hr-HR" sz="105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956" marR="32956" marT="0" marB="0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 dirty="0">
                          <a:effectLst/>
                        </a:rPr>
                        <a:t>20</a:t>
                      </a:r>
                      <a:endParaRPr lang="hr-HR" sz="105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956" marR="32956" marT="0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 dirty="0">
                          <a:effectLst/>
                        </a:rPr>
                        <a:t>50</a:t>
                      </a:r>
                      <a:endParaRPr lang="hr-HR" sz="105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956" marR="32956" marT="0" marB="0"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 dirty="0">
                          <a:effectLst/>
                        </a:rPr>
                        <a:t>100</a:t>
                      </a:r>
                      <a:endParaRPr lang="hr-HR" sz="105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956" marR="32956" marT="0" marB="0"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3570405"/>
                  </a:ext>
                </a:extLst>
              </a:tr>
              <a:tr h="223018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 dirty="0">
                          <a:effectLst/>
                        </a:rPr>
                        <a:t>1</a:t>
                      </a:r>
                      <a:endParaRPr lang="hr-HR" sz="105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956" marR="3295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>
                          <a:effectLst/>
                        </a:rPr>
                        <a:t>0,0004</a:t>
                      </a:r>
                      <a:endParaRPr lang="hr-HR" sz="105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956" marR="3295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>
                          <a:effectLst/>
                        </a:rPr>
                        <a:t>0,0002</a:t>
                      </a:r>
                      <a:endParaRPr lang="hr-HR" sz="105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956" marR="3295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>
                          <a:effectLst/>
                        </a:rPr>
                        <a:t>0,0004</a:t>
                      </a:r>
                      <a:endParaRPr lang="hr-HR" sz="105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956" marR="3295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>
                          <a:effectLst/>
                        </a:rPr>
                        <a:t>0,0003</a:t>
                      </a:r>
                      <a:endParaRPr lang="hr-HR" sz="105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956" marR="32956" marT="0" marB="0" anchor="ctr"/>
                </a:tc>
                <a:extLst>
                  <a:ext uri="{0D108BD9-81ED-4DB2-BD59-A6C34878D82A}">
                    <a16:rowId xmlns:a16="http://schemas.microsoft.com/office/drawing/2014/main" val="685436841"/>
                  </a:ext>
                </a:extLst>
              </a:tr>
              <a:tr h="223018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>
                          <a:effectLst/>
                        </a:rPr>
                        <a:t>5</a:t>
                      </a:r>
                      <a:endParaRPr lang="hr-HR" sz="105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956" marR="3295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 dirty="0">
                          <a:effectLst/>
                        </a:rPr>
                        <a:t>0,0006</a:t>
                      </a:r>
                      <a:endParaRPr lang="hr-HR" sz="105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956" marR="3295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 dirty="0">
                          <a:effectLst/>
                        </a:rPr>
                        <a:t>0,0021</a:t>
                      </a:r>
                      <a:endParaRPr lang="hr-HR" sz="105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956" marR="3295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>
                          <a:effectLst/>
                        </a:rPr>
                        <a:t>0,0018</a:t>
                      </a:r>
                      <a:endParaRPr lang="hr-HR" sz="105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956" marR="3295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>
                          <a:effectLst/>
                        </a:rPr>
                        <a:t>0,0017</a:t>
                      </a:r>
                      <a:endParaRPr lang="hr-HR" sz="105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956" marR="32956" marT="0" marB="0" anchor="ctr"/>
                </a:tc>
                <a:extLst>
                  <a:ext uri="{0D108BD9-81ED-4DB2-BD59-A6C34878D82A}">
                    <a16:rowId xmlns:a16="http://schemas.microsoft.com/office/drawing/2014/main" val="7866221"/>
                  </a:ext>
                </a:extLst>
              </a:tr>
              <a:tr h="223018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>
                          <a:effectLst/>
                        </a:rPr>
                        <a:t>10</a:t>
                      </a:r>
                      <a:endParaRPr lang="hr-HR" sz="105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956" marR="3295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>
                          <a:effectLst/>
                        </a:rPr>
                        <a:t>0,0009</a:t>
                      </a:r>
                      <a:endParaRPr lang="hr-HR" sz="105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956" marR="3295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>
                          <a:effectLst/>
                        </a:rPr>
                        <a:t>0,0023</a:t>
                      </a:r>
                      <a:endParaRPr lang="hr-HR" sz="105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956" marR="3295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 dirty="0">
                          <a:effectLst/>
                        </a:rPr>
                        <a:t>0,0017</a:t>
                      </a:r>
                      <a:endParaRPr lang="hr-HR" sz="105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956" marR="3295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>
                          <a:effectLst/>
                        </a:rPr>
                        <a:t>0,0014</a:t>
                      </a:r>
                      <a:endParaRPr lang="hr-HR" sz="105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956" marR="32956" marT="0" marB="0" anchor="ctr"/>
                </a:tc>
                <a:extLst>
                  <a:ext uri="{0D108BD9-81ED-4DB2-BD59-A6C34878D82A}">
                    <a16:rowId xmlns:a16="http://schemas.microsoft.com/office/drawing/2014/main" val="3570007427"/>
                  </a:ext>
                </a:extLst>
              </a:tr>
              <a:tr h="223018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>
                          <a:effectLst/>
                        </a:rPr>
                        <a:t>15</a:t>
                      </a:r>
                      <a:endParaRPr lang="hr-HR" sz="105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956" marR="3295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 dirty="0">
                          <a:effectLst/>
                        </a:rPr>
                        <a:t>0,0015</a:t>
                      </a:r>
                      <a:endParaRPr lang="hr-HR" sz="105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956" marR="3295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>
                          <a:effectLst/>
                        </a:rPr>
                        <a:t>0,0020</a:t>
                      </a:r>
                      <a:endParaRPr lang="hr-HR" sz="105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956" marR="3295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>
                          <a:effectLst/>
                        </a:rPr>
                        <a:t>0,0025</a:t>
                      </a:r>
                      <a:endParaRPr lang="hr-HR" sz="105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956" marR="3295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>
                          <a:effectLst/>
                        </a:rPr>
                        <a:t>0,0021</a:t>
                      </a:r>
                      <a:endParaRPr lang="hr-HR" sz="105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956" marR="32956" marT="0" marB="0" anchor="ctr"/>
                </a:tc>
                <a:extLst>
                  <a:ext uri="{0D108BD9-81ED-4DB2-BD59-A6C34878D82A}">
                    <a16:rowId xmlns:a16="http://schemas.microsoft.com/office/drawing/2014/main" val="26751110"/>
                  </a:ext>
                </a:extLst>
              </a:tr>
              <a:tr h="223018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>
                          <a:effectLst/>
                        </a:rPr>
                        <a:t>20</a:t>
                      </a:r>
                      <a:endParaRPr lang="hr-HR" sz="105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956" marR="3295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>
                          <a:effectLst/>
                        </a:rPr>
                        <a:t>0,0017</a:t>
                      </a:r>
                      <a:endParaRPr lang="hr-HR" sz="105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956" marR="3295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>
                          <a:effectLst/>
                        </a:rPr>
                        <a:t>0,0024</a:t>
                      </a:r>
                      <a:endParaRPr lang="hr-HR" sz="105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956" marR="3295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>
                          <a:effectLst/>
                        </a:rPr>
                        <a:t>0,0033</a:t>
                      </a:r>
                      <a:endParaRPr lang="hr-HR" sz="105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956" marR="3295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>
                          <a:effectLst/>
                        </a:rPr>
                        <a:t>0,0026</a:t>
                      </a:r>
                      <a:endParaRPr lang="hr-HR" sz="105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956" marR="32956" marT="0" marB="0" anchor="ctr"/>
                </a:tc>
                <a:extLst>
                  <a:ext uri="{0D108BD9-81ED-4DB2-BD59-A6C34878D82A}">
                    <a16:rowId xmlns:a16="http://schemas.microsoft.com/office/drawing/2014/main" val="3934203476"/>
                  </a:ext>
                </a:extLst>
              </a:tr>
              <a:tr h="223018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>
                          <a:effectLst/>
                        </a:rPr>
                        <a:t>25</a:t>
                      </a:r>
                      <a:endParaRPr lang="hr-HR" sz="105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956" marR="3295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 dirty="0">
                          <a:effectLst/>
                        </a:rPr>
                        <a:t>0,0021</a:t>
                      </a:r>
                      <a:endParaRPr lang="hr-HR" sz="105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956" marR="3295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>
                          <a:effectLst/>
                        </a:rPr>
                        <a:t>0,0031</a:t>
                      </a:r>
                      <a:endParaRPr lang="hr-HR" sz="105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956" marR="3295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 dirty="0">
                          <a:effectLst/>
                        </a:rPr>
                        <a:t>0,0042</a:t>
                      </a:r>
                      <a:endParaRPr lang="hr-HR" sz="105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956" marR="3295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>
                          <a:effectLst/>
                        </a:rPr>
                        <a:t>0,0032</a:t>
                      </a:r>
                      <a:endParaRPr lang="hr-HR" sz="105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956" marR="32956" marT="0" marB="0" anchor="ctr"/>
                </a:tc>
                <a:extLst>
                  <a:ext uri="{0D108BD9-81ED-4DB2-BD59-A6C34878D82A}">
                    <a16:rowId xmlns:a16="http://schemas.microsoft.com/office/drawing/2014/main" val="3429233212"/>
                  </a:ext>
                </a:extLst>
              </a:tr>
              <a:tr h="223018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>
                          <a:effectLst/>
                        </a:rPr>
                        <a:t>30</a:t>
                      </a:r>
                      <a:endParaRPr lang="hr-HR" sz="105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956" marR="3295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>
                          <a:effectLst/>
                        </a:rPr>
                        <a:t>0,0025</a:t>
                      </a:r>
                      <a:endParaRPr lang="hr-HR" sz="105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956" marR="3295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>
                          <a:effectLst/>
                        </a:rPr>
                        <a:t>0,0037</a:t>
                      </a:r>
                      <a:endParaRPr lang="hr-HR" sz="105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956" marR="3295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>
                          <a:effectLst/>
                        </a:rPr>
                        <a:t>0,0036</a:t>
                      </a:r>
                      <a:endParaRPr lang="hr-HR" sz="105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956" marR="3295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>
                          <a:effectLst/>
                        </a:rPr>
                        <a:t>0,0039</a:t>
                      </a:r>
                      <a:endParaRPr lang="hr-HR" sz="105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956" marR="32956" marT="0" marB="0" anchor="ctr"/>
                </a:tc>
                <a:extLst>
                  <a:ext uri="{0D108BD9-81ED-4DB2-BD59-A6C34878D82A}">
                    <a16:rowId xmlns:a16="http://schemas.microsoft.com/office/drawing/2014/main" val="2734691688"/>
                  </a:ext>
                </a:extLst>
              </a:tr>
              <a:tr h="223018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>
                          <a:effectLst/>
                        </a:rPr>
                        <a:t>35</a:t>
                      </a:r>
                      <a:endParaRPr lang="hr-HR" sz="105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956" marR="3295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>
                          <a:effectLst/>
                        </a:rPr>
                        <a:t>0,0030</a:t>
                      </a:r>
                      <a:endParaRPr lang="hr-HR" sz="105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956" marR="3295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>
                          <a:effectLst/>
                        </a:rPr>
                        <a:t>0,0043</a:t>
                      </a:r>
                      <a:endParaRPr lang="hr-HR" sz="105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956" marR="3295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>
                          <a:effectLst/>
                        </a:rPr>
                        <a:t>0,0045</a:t>
                      </a:r>
                      <a:endParaRPr lang="hr-HR" sz="105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956" marR="3295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>
                          <a:effectLst/>
                        </a:rPr>
                        <a:t>0,0045</a:t>
                      </a:r>
                      <a:endParaRPr lang="hr-HR" sz="105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956" marR="32956" marT="0" marB="0" anchor="ctr"/>
                </a:tc>
                <a:extLst>
                  <a:ext uri="{0D108BD9-81ED-4DB2-BD59-A6C34878D82A}">
                    <a16:rowId xmlns:a16="http://schemas.microsoft.com/office/drawing/2014/main" val="4024205820"/>
                  </a:ext>
                </a:extLst>
              </a:tr>
              <a:tr h="223018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>
                          <a:effectLst/>
                        </a:rPr>
                        <a:t>40</a:t>
                      </a:r>
                      <a:endParaRPr lang="hr-HR" sz="105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956" marR="3295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>
                          <a:effectLst/>
                        </a:rPr>
                        <a:t>0,0031</a:t>
                      </a:r>
                      <a:endParaRPr lang="hr-HR" sz="105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956" marR="3295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 dirty="0">
                          <a:effectLst/>
                        </a:rPr>
                        <a:t>0,0052</a:t>
                      </a:r>
                      <a:endParaRPr lang="hr-HR" sz="105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956" marR="3295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>
                          <a:effectLst/>
                        </a:rPr>
                        <a:t>0,0050</a:t>
                      </a:r>
                      <a:endParaRPr lang="hr-HR" sz="105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956" marR="3295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>
                          <a:effectLst/>
                        </a:rPr>
                        <a:t>0,0044</a:t>
                      </a:r>
                      <a:endParaRPr lang="hr-HR" sz="105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956" marR="32956" marT="0" marB="0" anchor="ctr"/>
                </a:tc>
                <a:extLst>
                  <a:ext uri="{0D108BD9-81ED-4DB2-BD59-A6C34878D82A}">
                    <a16:rowId xmlns:a16="http://schemas.microsoft.com/office/drawing/2014/main" val="2392062908"/>
                  </a:ext>
                </a:extLst>
              </a:tr>
              <a:tr h="223018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>
                          <a:effectLst/>
                        </a:rPr>
                        <a:t>45</a:t>
                      </a:r>
                      <a:endParaRPr lang="hr-HR" sz="105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956" marR="3295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>
                          <a:effectLst/>
                        </a:rPr>
                        <a:t>0,0034</a:t>
                      </a:r>
                      <a:endParaRPr lang="hr-HR" sz="105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956" marR="3295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 dirty="0">
                          <a:effectLst/>
                        </a:rPr>
                        <a:t>0,0055</a:t>
                      </a:r>
                      <a:endParaRPr lang="hr-HR" sz="105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956" marR="3295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>
                          <a:effectLst/>
                        </a:rPr>
                        <a:t>0,0056</a:t>
                      </a:r>
                      <a:endParaRPr lang="hr-HR" sz="105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956" marR="3295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>
                          <a:effectLst/>
                        </a:rPr>
                        <a:t>0,0055</a:t>
                      </a:r>
                      <a:endParaRPr lang="hr-HR" sz="105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956" marR="32956" marT="0" marB="0" anchor="ctr"/>
                </a:tc>
                <a:extLst>
                  <a:ext uri="{0D108BD9-81ED-4DB2-BD59-A6C34878D82A}">
                    <a16:rowId xmlns:a16="http://schemas.microsoft.com/office/drawing/2014/main" val="3261489253"/>
                  </a:ext>
                </a:extLst>
              </a:tr>
              <a:tr h="223018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>
                          <a:effectLst/>
                        </a:rPr>
                        <a:t>50</a:t>
                      </a:r>
                      <a:endParaRPr lang="hr-HR" sz="105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956" marR="3295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>
                          <a:effectLst/>
                        </a:rPr>
                        <a:t>0,0037</a:t>
                      </a:r>
                      <a:endParaRPr lang="hr-HR" sz="105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956" marR="3295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 dirty="0">
                          <a:effectLst/>
                        </a:rPr>
                        <a:t>0,0061</a:t>
                      </a:r>
                      <a:endParaRPr lang="hr-HR" sz="105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956" marR="3295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>
                          <a:effectLst/>
                        </a:rPr>
                        <a:t>0,0063</a:t>
                      </a:r>
                      <a:endParaRPr lang="hr-HR" sz="105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956" marR="3295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>
                          <a:effectLst/>
                        </a:rPr>
                        <a:t>0,0060</a:t>
                      </a:r>
                      <a:endParaRPr lang="hr-HR" sz="105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956" marR="32956" marT="0" marB="0" anchor="ctr"/>
                </a:tc>
                <a:extLst>
                  <a:ext uri="{0D108BD9-81ED-4DB2-BD59-A6C34878D82A}">
                    <a16:rowId xmlns:a16="http://schemas.microsoft.com/office/drawing/2014/main" val="1358650780"/>
                  </a:ext>
                </a:extLst>
              </a:tr>
              <a:tr h="223018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>
                          <a:effectLst/>
                        </a:rPr>
                        <a:t>55</a:t>
                      </a:r>
                      <a:endParaRPr lang="hr-HR" sz="105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956" marR="3295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>
                          <a:effectLst/>
                        </a:rPr>
                        <a:t>0,0043</a:t>
                      </a:r>
                      <a:endParaRPr lang="hr-HR" sz="105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956" marR="3295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>
                          <a:effectLst/>
                        </a:rPr>
                        <a:t>0,0067</a:t>
                      </a:r>
                      <a:endParaRPr lang="hr-HR" sz="105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956" marR="3295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>
                          <a:effectLst/>
                        </a:rPr>
                        <a:t>0,0067</a:t>
                      </a:r>
                      <a:endParaRPr lang="hr-HR" sz="105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956" marR="3295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>
                          <a:effectLst/>
                        </a:rPr>
                        <a:t>0,0066</a:t>
                      </a:r>
                      <a:endParaRPr lang="hr-HR" sz="105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956" marR="32956" marT="0" marB="0" anchor="ctr"/>
                </a:tc>
                <a:extLst>
                  <a:ext uri="{0D108BD9-81ED-4DB2-BD59-A6C34878D82A}">
                    <a16:rowId xmlns:a16="http://schemas.microsoft.com/office/drawing/2014/main" val="1833902708"/>
                  </a:ext>
                </a:extLst>
              </a:tr>
              <a:tr h="223018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>
                          <a:effectLst/>
                        </a:rPr>
                        <a:t>60</a:t>
                      </a:r>
                      <a:endParaRPr lang="hr-HR" sz="105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956" marR="3295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>
                          <a:effectLst/>
                        </a:rPr>
                        <a:t>0,0045</a:t>
                      </a:r>
                      <a:endParaRPr lang="hr-HR" sz="105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956" marR="3295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>
                          <a:effectLst/>
                        </a:rPr>
                        <a:t>0,0073</a:t>
                      </a:r>
                      <a:endParaRPr lang="hr-HR" sz="105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956" marR="3295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>
                          <a:effectLst/>
                        </a:rPr>
                        <a:t>0,0073</a:t>
                      </a:r>
                      <a:endParaRPr lang="hr-HR" sz="105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956" marR="3295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>
                          <a:effectLst/>
                        </a:rPr>
                        <a:t>0,0073</a:t>
                      </a:r>
                      <a:endParaRPr lang="hr-HR" sz="105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956" marR="32956" marT="0" marB="0" anchor="ctr"/>
                </a:tc>
                <a:extLst>
                  <a:ext uri="{0D108BD9-81ED-4DB2-BD59-A6C34878D82A}">
                    <a16:rowId xmlns:a16="http://schemas.microsoft.com/office/drawing/2014/main" val="1927550125"/>
                  </a:ext>
                </a:extLst>
              </a:tr>
              <a:tr h="223018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>
                          <a:effectLst/>
                        </a:rPr>
                        <a:t>65</a:t>
                      </a:r>
                      <a:endParaRPr lang="hr-HR" sz="105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956" marR="3295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>
                          <a:effectLst/>
                        </a:rPr>
                        <a:t>0,0047</a:t>
                      </a:r>
                      <a:endParaRPr lang="hr-HR" sz="105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956" marR="3295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>
                          <a:effectLst/>
                        </a:rPr>
                        <a:t>0,0077</a:t>
                      </a:r>
                      <a:endParaRPr lang="hr-HR" sz="105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956" marR="3295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 dirty="0">
                          <a:effectLst/>
                        </a:rPr>
                        <a:t>0,0077</a:t>
                      </a:r>
                      <a:endParaRPr lang="hr-HR" sz="105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956" marR="3295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>
                          <a:effectLst/>
                        </a:rPr>
                        <a:t>0,0081</a:t>
                      </a:r>
                      <a:endParaRPr lang="hr-HR" sz="105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956" marR="32956" marT="0" marB="0" anchor="ctr"/>
                </a:tc>
                <a:extLst>
                  <a:ext uri="{0D108BD9-81ED-4DB2-BD59-A6C34878D82A}">
                    <a16:rowId xmlns:a16="http://schemas.microsoft.com/office/drawing/2014/main" val="2684039897"/>
                  </a:ext>
                </a:extLst>
              </a:tr>
              <a:tr h="223018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>
                          <a:effectLst/>
                        </a:rPr>
                        <a:t>70</a:t>
                      </a:r>
                      <a:endParaRPr lang="hr-HR" sz="105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956" marR="3295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>
                          <a:effectLst/>
                        </a:rPr>
                        <a:t>0,0058</a:t>
                      </a:r>
                      <a:endParaRPr lang="hr-HR" sz="105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956" marR="3295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>
                          <a:effectLst/>
                        </a:rPr>
                        <a:t>0,0083</a:t>
                      </a:r>
                      <a:endParaRPr lang="hr-HR" sz="105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956" marR="3295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>
                          <a:effectLst/>
                        </a:rPr>
                        <a:t>0,0092</a:t>
                      </a:r>
                      <a:endParaRPr lang="hr-HR" sz="105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956" marR="3295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>
                          <a:effectLst/>
                        </a:rPr>
                        <a:t>0,0093</a:t>
                      </a:r>
                      <a:endParaRPr lang="hr-HR" sz="105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956" marR="32956" marT="0" marB="0" anchor="ctr"/>
                </a:tc>
                <a:extLst>
                  <a:ext uri="{0D108BD9-81ED-4DB2-BD59-A6C34878D82A}">
                    <a16:rowId xmlns:a16="http://schemas.microsoft.com/office/drawing/2014/main" val="2495689468"/>
                  </a:ext>
                </a:extLst>
              </a:tr>
              <a:tr h="223018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>
                          <a:effectLst/>
                        </a:rPr>
                        <a:t>75</a:t>
                      </a:r>
                      <a:endParaRPr lang="hr-HR" sz="105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956" marR="3295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>
                          <a:effectLst/>
                        </a:rPr>
                        <a:t>0,0068</a:t>
                      </a:r>
                      <a:endParaRPr lang="hr-HR" sz="105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956" marR="3295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>
                          <a:effectLst/>
                        </a:rPr>
                        <a:t>0,0089</a:t>
                      </a:r>
                      <a:endParaRPr lang="hr-HR" sz="105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956" marR="3295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>
                          <a:effectLst/>
                        </a:rPr>
                        <a:t>0,0100</a:t>
                      </a:r>
                      <a:endParaRPr lang="hr-HR" sz="105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956" marR="3295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>
                          <a:effectLst/>
                        </a:rPr>
                        <a:t>0,0089</a:t>
                      </a:r>
                      <a:endParaRPr lang="hr-HR" sz="105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956" marR="32956" marT="0" marB="0" anchor="ctr"/>
                </a:tc>
                <a:extLst>
                  <a:ext uri="{0D108BD9-81ED-4DB2-BD59-A6C34878D82A}">
                    <a16:rowId xmlns:a16="http://schemas.microsoft.com/office/drawing/2014/main" val="2353969535"/>
                  </a:ext>
                </a:extLst>
              </a:tr>
              <a:tr h="223018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>
                          <a:effectLst/>
                        </a:rPr>
                        <a:t>80</a:t>
                      </a:r>
                      <a:endParaRPr lang="hr-HR" sz="105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956" marR="3295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>
                          <a:effectLst/>
                        </a:rPr>
                        <a:t>0,0065</a:t>
                      </a:r>
                      <a:endParaRPr lang="hr-HR" sz="105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956" marR="3295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>
                          <a:effectLst/>
                        </a:rPr>
                        <a:t>0,0091</a:t>
                      </a:r>
                      <a:endParaRPr lang="hr-HR" sz="105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956" marR="3295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 dirty="0">
                          <a:effectLst/>
                        </a:rPr>
                        <a:t>0,0095</a:t>
                      </a:r>
                      <a:endParaRPr lang="hr-HR" sz="105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956" marR="3295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>
                          <a:effectLst/>
                        </a:rPr>
                        <a:t>0,0096</a:t>
                      </a:r>
                      <a:endParaRPr lang="hr-HR" sz="105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956" marR="32956" marT="0" marB="0" anchor="ctr"/>
                </a:tc>
                <a:extLst>
                  <a:ext uri="{0D108BD9-81ED-4DB2-BD59-A6C34878D82A}">
                    <a16:rowId xmlns:a16="http://schemas.microsoft.com/office/drawing/2014/main" val="2415515641"/>
                  </a:ext>
                </a:extLst>
              </a:tr>
              <a:tr h="223018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>
                          <a:effectLst/>
                        </a:rPr>
                        <a:t>85</a:t>
                      </a:r>
                      <a:endParaRPr lang="hr-HR" sz="105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956" marR="3295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>
                          <a:effectLst/>
                        </a:rPr>
                        <a:t>0,0063</a:t>
                      </a:r>
                      <a:endParaRPr lang="hr-HR" sz="105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956" marR="3295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>
                          <a:effectLst/>
                        </a:rPr>
                        <a:t>0,0101</a:t>
                      </a:r>
                      <a:endParaRPr lang="hr-HR" sz="105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956" marR="3295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>
                          <a:effectLst/>
                        </a:rPr>
                        <a:t>0,0101</a:t>
                      </a:r>
                      <a:endParaRPr lang="hr-HR" sz="105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956" marR="3295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 dirty="0">
                          <a:effectLst/>
                        </a:rPr>
                        <a:t>0,0115</a:t>
                      </a:r>
                      <a:endParaRPr lang="hr-HR" sz="105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956" marR="32956" marT="0" marB="0" anchor="ctr"/>
                </a:tc>
                <a:extLst>
                  <a:ext uri="{0D108BD9-81ED-4DB2-BD59-A6C34878D82A}">
                    <a16:rowId xmlns:a16="http://schemas.microsoft.com/office/drawing/2014/main" val="1714916586"/>
                  </a:ext>
                </a:extLst>
              </a:tr>
              <a:tr h="223018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>
                          <a:effectLst/>
                        </a:rPr>
                        <a:t>90</a:t>
                      </a:r>
                      <a:endParaRPr lang="hr-HR" sz="105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956" marR="3295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>
                          <a:effectLst/>
                        </a:rPr>
                        <a:t>0,0065</a:t>
                      </a:r>
                      <a:endParaRPr lang="hr-HR" sz="105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956" marR="3295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>
                          <a:effectLst/>
                        </a:rPr>
                        <a:t>0,0118</a:t>
                      </a:r>
                      <a:endParaRPr lang="hr-HR" sz="105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956" marR="3295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>
                          <a:effectLst/>
                        </a:rPr>
                        <a:t>0,0120</a:t>
                      </a:r>
                      <a:endParaRPr lang="hr-HR" sz="105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956" marR="3295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 dirty="0">
                          <a:effectLst/>
                        </a:rPr>
                        <a:t>0,0113</a:t>
                      </a:r>
                      <a:endParaRPr lang="hr-HR" sz="105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956" marR="32956" marT="0" marB="0" anchor="ctr"/>
                </a:tc>
                <a:extLst>
                  <a:ext uri="{0D108BD9-81ED-4DB2-BD59-A6C34878D82A}">
                    <a16:rowId xmlns:a16="http://schemas.microsoft.com/office/drawing/2014/main" val="3969983236"/>
                  </a:ext>
                </a:extLst>
              </a:tr>
              <a:tr h="223018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>
                          <a:effectLst/>
                        </a:rPr>
                        <a:t>95</a:t>
                      </a:r>
                      <a:endParaRPr lang="hr-HR" sz="105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956" marR="3295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>
                          <a:effectLst/>
                        </a:rPr>
                        <a:t>0,0072</a:t>
                      </a:r>
                      <a:endParaRPr lang="hr-HR" sz="105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956" marR="3295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>
                          <a:effectLst/>
                        </a:rPr>
                        <a:t>0,0123</a:t>
                      </a:r>
                      <a:endParaRPr lang="hr-HR" sz="105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956" marR="3295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>
                          <a:effectLst/>
                        </a:rPr>
                        <a:t>0,0120</a:t>
                      </a:r>
                      <a:endParaRPr lang="hr-HR" sz="105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956" marR="3295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 dirty="0">
                          <a:effectLst/>
                        </a:rPr>
                        <a:t>0,0117</a:t>
                      </a:r>
                      <a:endParaRPr lang="hr-HR" sz="105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956" marR="32956" marT="0" marB="0" anchor="ctr"/>
                </a:tc>
                <a:extLst>
                  <a:ext uri="{0D108BD9-81ED-4DB2-BD59-A6C34878D82A}">
                    <a16:rowId xmlns:a16="http://schemas.microsoft.com/office/drawing/2014/main" val="3109516572"/>
                  </a:ext>
                </a:extLst>
              </a:tr>
              <a:tr h="223018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>
                          <a:effectLst/>
                        </a:rPr>
                        <a:t>100</a:t>
                      </a:r>
                      <a:endParaRPr lang="hr-HR" sz="105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956" marR="3295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>
                          <a:effectLst/>
                        </a:rPr>
                        <a:t>0,0072</a:t>
                      </a:r>
                      <a:endParaRPr lang="hr-HR" sz="105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956" marR="3295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>
                          <a:effectLst/>
                        </a:rPr>
                        <a:t>0,0125</a:t>
                      </a:r>
                      <a:endParaRPr lang="hr-HR" sz="105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956" marR="3295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>
                          <a:effectLst/>
                        </a:rPr>
                        <a:t>0,0136</a:t>
                      </a:r>
                      <a:endParaRPr lang="hr-HR" sz="105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956" marR="3295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 dirty="0">
                          <a:effectLst/>
                        </a:rPr>
                        <a:t>0,0121</a:t>
                      </a:r>
                      <a:endParaRPr lang="hr-HR" sz="105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956" marR="32956" marT="0" marB="0" anchor="ctr"/>
                </a:tc>
                <a:extLst>
                  <a:ext uri="{0D108BD9-81ED-4DB2-BD59-A6C34878D82A}">
                    <a16:rowId xmlns:a16="http://schemas.microsoft.com/office/drawing/2014/main" val="4194836338"/>
                  </a:ext>
                </a:extLst>
              </a:tr>
            </a:tbl>
          </a:graphicData>
        </a:graphic>
      </p:graphicFrame>
      <p:graphicFrame>
        <p:nvGraphicFramePr>
          <p:cNvPr id="8" name="Grafikon 7">
            <a:extLst>
              <a:ext uri="{FF2B5EF4-FFF2-40B4-BE49-F238E27FC236}">
                <a16:creationId xmlns:a16="http://schemas.microsoft.com/office/drawing/2014/main" id="{5CF7164C-F565-528C-5989-896AF674C1A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07144809"/>
              </p:ext>
            </p:extLst>
          </p:nvPr>
        </p:nvGraphicFramePr>
        <p:xfrm>
          <a:off x="4357369" y="1642369"/>
          <a:ext cx="5621132" cy="389729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2483335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57C15FE0-C403-1685-A37F-EC1598AE6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228410"/>
            <a:ext cx="8596668" cy="775317"/>
          </a:xfrm>
        </p:spPr>
        <p:txBody>
          <a:bodyPr/>
          <a:lstStyle/>
          <a:p>
            <a:r>
              <a:rPr lang="hr-HR" dirty="0">
                <a:solidFill>
                  <a:srgbClr val="002060"/>
                </a:solidFill>
              </a:rPr>
              <a:t>A = {‘a’, ‘b’, ‘c’}</a:t>
            </a:r>
          </a:p>
        </p:txBody>
      </p:sp>
      <p:graphicFrame>
        <p:nvGraphicFramePr>
          <p:cNvPr id="7" name="Tablica 6">
            <a:extLst>
              <a:ext uri="{FF2B5EF4-FFF2-40B4-BE49-F238E27FC236}">
                <a16:creationId xmlns:a16="http://schemas.microsoft.com/office/drawing/2014/main" id="{BDA55666-2A0E-E6EC-7691-B87A922BC6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2875300"/>
              </p:ext>
            </p:extLst>
          </p:nvPr>
        </p:nvGraphicFramePr>
        <p:xfrm>
          <a:off x="677334" y="1154097"/>
          <a:ext cx="3550055" cy="525844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689827">
                  <a:extLst>
                    <a:ext uri="{9D8B030D-6E8A-4147-A177-3AD203B41FA5}">
                      <a16:colId xmlns:a16="http://schemas.microsoft.com/office/drawing/2014/main" val="921203692"/>
                    </a:ext>
                  </a:extLst>
                </a:gridCol>
                <a:gridCol w="715077">
                  <a:extLst>
                    <a:ext uri="{9D8B030D-6E8A-4147-A177-3AD203B41FA5}">
                      <a16:colId xmlns:a16="http://schemas.microsoft.com/office/drawing/2014/main" val="37451153"/>
                    </a:ext>
                  </a:extLst>
                </a:gridCol>
                <a:gridCol w="715050">
                  <a:extLst>
                    <a:ext uri="{9D8B030D-6E8A-4147-A177-3AD203B41FA5}">
                      <a16:colId xmlns:a16="http://schemas.microsoft.com/office/drawing/2014/main" val="196386946"/>
                    </a:ext>
                  </a:extLst>
                </a:gridCol>
                <a:gridCol w="643545">
                  <a:extLst>
                    <a:ext uri="{9D8B030D-6E8A-4147-A177-3AD203B41FA5}">
                      <a16:colId xmlns:a16="http://schemas.microsoft.com/office/drawing/2014/main" val="934964582"/>
                    </a:ext>
                  </a:extLst>
                </a:gridCol>
                <a:gridCol w="786556">
                  <a:extLst>
                    <a:ext uri="{9D8B030D-6E8A-4147-A177-3AD203B41FA5}">
                      <a16:colId xmlns:a16="http://schemas.microsoft.com/office/drawing/2014/main" val="2194052100"/>
                    </a:ext>
                  </a:extLst>
                </a:gridCol>
              </a:tblGrid>
              <a:tr h="247103">
                <a:tc row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 dirty="0">
                          <a:effectLst/>
                        </a:rPr>
                        <a:t>duljina teksta (u tisućama)</a:t>
                      </a:r>
                      <a:endParaRPr lang="hr-HR" sz="105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956" marR="32956" marT="0" marB="0" anchor="ctr"/>
                </a:tc>
                <a:tc gridSpan="4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00" b="1">
                          <a:effectLst/>
                        </a:rPr>
                        <a:t>duljina uzorka</a:t>
                      </a:r>
                      <a:endParaRPr lang="hr-HR" sz="10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956" marR="32956" marT="0" marB="0" anchor="ctr"/>
                </a:tc>
                <a:tc hMerge="1">
                  <a:txBody>
                    <a:bodyPr/>
                    <a:lstStyle/>
                    <a:p>
                      <a:endParaRPr lang="hr-H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hr-H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hr-H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4794"/>
                  </a:ext>
                </a:extLst>
              </a:tr>
              <a:tr h="327968">
                <a:tc vMerge="1">
                  <a:txBody>
                    <a:bodyPr/>
                    <a:lstStyle/>
                    <a:p>
                      <a:endParaRPr lang="hr-H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 dirty="0">
                          <a:effectLst/>
                        </a:rPr>
                        <a:t>10</a:t>
                      </a:r>
                      <a:endParaRPr lang="hr-HR" sz="105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956" marR="32956" marT="0" marB="0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 dirty="0">
                          <a:effectLst/>
                        </a:rPr>
                        <a:t>20</a:t>
                      </a:r>
                      <a:endParaRPr lang="hr-HR" sz="105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956" marR="32956" marT="0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 dirty="0">
                          <a:effectLst/>
                        </a:rPr>
                        <a:t>50</a:t>
                      </a:r>
                      <a:endParaRPr lang="hr-HR" sz="105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956" marR="32956" marT="0" marB="0"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 dirty="0">
                          <a:effectLst/>
                        </a:rPr>
                        <a:t>100</a:t>
                      </a:r>
                      <a:endParaRPr lang="hr-HR" sz="105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956" marR="32956" marT="0" marB="0"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3570405"/>
                  </a:ext>
                </a:extLst>
              </a:tr>
              <a:tr h="223018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 dirty="0">
                          <a:effectLst/>
                        </a:rPr>
                        <a:t>1</a:t>
                      </a:r>
                      <a:endParaRPr lang="hr-HR" sz="105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956" marR="3295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0,0002</a:t>
                      </a:r>
                      <a:endParaRPr lang="hr-HR" sz="105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0,0000</a:t>
                      </a:r>
                      <a:endParaRPr lang="hr-HR" sz="105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0,0000</a:t>
                      </a:r>
                      <a:endParaRPr lang="hr-HR" sz="105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0,0002</a:t>
                      </a:r>
                      <a:endParaRPr lang="hr-HR" sz="105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685436841"/>
                  </a:ext>
                </a:extLst>
              </a:tr>
              <a:tr h="223018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>
                          <a:effectLst/>
                        </a:rPr>
                        <a:t>5</a:t>
                      </a:r>
                      <a:endParaRPr lang="hr-HR" sz="105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956" marR="3295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0,0015</a:t>
                      </a:r>
                      <a:endParaRPr lang="hr-HR" sz="105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0,0006</a:t>
                      </a:r>
                      <a:endParaRPr lang="hr-HR" sz="105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0,0007</a:t>
                      </a:r>
                      <a:endParaRPr lang="hr-HR" sz="105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0,0007</a:t>
                      </a:r>
                      <a:endParaRPr lang="hr-HR" sz="105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7866221"/>
                  </a:ext>
                </a:extLst>
              </a:tr>
              <a:tr h="223018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>
                          <a:effectLst/>
                        </a:rPr>
                        <a:t>10</a:t>
                      </a:r>
                      <a:endParaRPr lang="hr-HR" sz="105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956" marR="3295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0,0010</a:t>
                      </a:r>
                      <a:endParaRPr lang="hr-HR" sz="105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0,0010</a:t>
                      </a:r>
                      <a:endParaRPr lang="hr-HR" sz="105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0,0010</a:t>
                      </a:r>
                      <a:endParaRPr lang="hr-HR" sz="105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0,0013</a:t>
                      </a:r>
                      <a:endParaRPr lang="hr-HR" sz="105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3570007427"/>
                  </a:ext>
                </a:extLst>
              </a:tr>
              <a:tr h="223018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>
                          <a:effectLst/>
                        </a:rPr>
                        <a:t>15</a:t>
                      </a:r>
                      <a:endParaRPr lang="hr-HR" sz="105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956" marR="3295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0,0016</a:t>
                      </a:r>
                      <a:endParaRPr lang="hr-HR" sz="105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0,0015</a:t>
                      </a:r>
                      <a:endParaRPr lang="hr-HR" sz="105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0,0018</a:t>
                      </a:r>
                      <a:endParaRPr lang="hr-HR" sz="105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0,0019</a:t>
                      </a:r>
                      <a:endParaRPr lang="hr-HR" sz="105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26751110"/>
                  </a:ext>
                </a:extLst>
              </a:tr>
              <a:tr h="223018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>
                          <a:effectLst/>
                        </a:rPr>
                        <a:t>20</a:t>
                      </a:r>
                      <a:endParaRPr lang="hr-HR" sz="105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956" marR="3295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0,0020</a:t>
                      </a:r>
                      <a:endParaRPr lang="hr-HR" sz="105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0,0019</a:t>
                      </a:r>
                      <a:endParaRPr lang="hr-HR" sz="105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0,0021</a:t>
                      </a:r>
                      <a:endParaRPr lang="hr-HR" sz="105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0,0022</a:t>
                      </a:r>
                      <a:endParaRPr lang="hr-HR" sz="105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3934203476"/>
                  </a:ext>
                </a:extLst>
              </a:tr>
              <a:tr h="223018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>
                          <a:effectLst/>
                        </a:rPr>
                        <a:t>25</a:t>
                      </a:r>
                      <a:endParaRPr lang="hr-HR" sz="105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956" marR="3295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0,0024</a:t>
                      </a:r>
                      <a:endParaRPr lang="hr-HR" sz="105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0,0027</a:t>
                      </a:r>
                      <a:endParaRPr lang="hr-HR" sz="105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0,0028</a:t>
                      </a:r>
                      <a:endParaRPr lang="hr-HR" sz="105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0,0025</a:t>
                      </a:r>
                      <a:endParaRPr lang="hr-HR" sz="105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3429233212"/>
                  </a:ext>
                </a:extLst>
              </a:tr>
              <a:tr h="223018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>
                          <a:effectLst/>
                        </a:rPr>
                        <a:t>30</a:t>
                      </a:r>
                      <a:endParaRPr lang="hr-HR" sz="105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956" marR="3295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0,0035</a:t>
                      </a:r>
                      <a:endParaRPr lang="hr-HR" sz="105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0,0037</a:t>
                      </a:r>
                      <a:endParaRPr lang="hr-HR" sz="105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0,0032</a:t>
                      </a:r>
                      <a:endParaRPr lang="hr-HR" sz="105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0,0031</a:t>
                      </a:r>
                      <a:endParaRPr lang="hr-HR" sz="105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2734691688"/>
                  </a:ext>
                </a:extLst>
              </a:tr>
              <a:tr h="223018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>
                          <a:effectLst/>
                        </a:rPr>
                        <a:t>35</a:t>
                      </a:r>
                      <a:endParaRPr lang="hr-HR" sz="105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956" marR="3295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0,0036</a:t>
                      </a:r>
                      <a:endParaRPr lang="hr-HR" sz="105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0,0035</a:t>
                      </a:r>
                      <a:endParaRPr lang="hr-HR" sz="105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0,0035</a:t>
                      </a:r>
                      <a:endParaRPr lang="hr-HR" sz="105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0,0037</a:t>
                      </a:r>
                      <a:endParaRPr lang="hr-HR" sz="105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4024205820"/>
                  </a:ext>
                </a:extLst>
              </a:tr>
              <a:tr h="223018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>
                          <a:effectLst/>
                        </a:rPr>
                        <a:t>40</a:t>
                      </a:r>
                      <a:endParaRPr lang="hr-HR" sz="105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956" marR="3295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0,0042</a:t>
                      </a:r>
                      <a:endParaRPr lang="hr-HR" sz="105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0,0046</a:t>
                      </a:r>
                      <a:endParaRPr lang="hr-HR" sz="105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0,0041</a:t>
                      </a:r>
                      <a:endParaRPr lang="hr-HR" sz="105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0,0042</a:t>
                      </a:r>
                      <a:endParaRPr lang="hr-HR" sz="105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2392062908"/>
                  </a:ext>
                </a:extLst>
              </a:tr>
              <a:tr h="223018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>
                          <a:effectLst/>
                        </a:rPr>
                        <a:t>45</a:t>
                      </a:r>
                      <a:endParaRPr lang="hr-HR" sz="105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956" marR="3295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0,0046</a:t>
                      </a:r>
                      <a:endParaRPr lang="hr-HR" sz="105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0,0045</a:t>
                      </a:r>
                      <a:endParaRPr lang="hr-HR" sz="105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0,0045</a:t>
                      </a:r>
                      <a:endParaRPr lang="hr-HR" sz="105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0,0048</a:t>
                      </a:r>
                      <a:endParaRPr lang="hr-HR" sz="105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3261489253"/>
                  </a:ext>
                </a:extLst>
              </a:tr>
              <a:tr h="223018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>
                          <a:effectLst/>
                        </a:rPr>
                        <a:t>50</a:t>
                      </a:r>
                      <a:endParaRPr lang="hr-HR" sz="105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956" marR="3295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0,0050</a:t>
                      </a:r>
                      <a:endParaRPr lang="hr-HR" sz="105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0,0059</a:t>
                      </a:r>
                      <a:endParaRPr lang="hr-HR" sz="105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0,0053</a:t>
                      </a:r>
                      <a:endParaRPr lang="hr-HR" sz="105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0,0058</a:t>
                      </a:r>
                      <a:endParaRPr lang="hr-HR" sz="105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1358650780"/>
                  </a:ext>
                </a:extLst>
              </a:tr>
              <a:tr h="223018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>
                          <a:effectLst/>
                        </a:rPr>
                        <a:t>55</a:t>
                      </a:r>
                      <a:endParaRPr lang="hr-HR" sz="105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956" marR="3295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0,0056</a:t>
                      </a:r>
                      <a:endParaRPr lang="hr-HR" sz="105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0,0058</a:t>
                      </a:r>
                      <a:endParaRPr lang="hr-HR" sz="105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0,0066</a:t>
                      </a:r>
                      <a:endParaRPr lang="hr-HR" sz="105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0,0069</a:t>
                      </a:r>
                      <a:endParaRPr lang="hr-HR" sz="105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1833902708"/>
                  </a:ext>
                </a:extLst>
              </a:tr>
              <a:tr h="223018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>
                          <a:effectLst/>
                        </a:rPr>
                        <a:t>60</a:t>
                      </a:r>
                      <a:endParaRPr lang="hr-HR" sz="105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956" marR="3295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0,0063</a:t>
                      </a:r>
                      <a:endParaRPr lang="hr-HR" sz="105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0,0068</a:t>
                      </a:r>
                      <a:endParaRPr lang="hr-HR" sz="105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0,0064</a:t>
                      </a:r>
                      <a:endParaRPr lang="hr-HR" sz="105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0,0083</a:t>
                      </a:r>
                      <a:endParaRPr lang="hr-HR" sz="105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1927550125"/>
                  </a:ext>
                </a:extLst>
              </a:tr>
              <a:tr h="223018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>
                          <a:effectLst/>
                        </a:rPr>
                        <a:t>65</a:t>
                      </a:r>
                      <a:endParaRPr lang="hr-HR" sz="105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956" marR="3295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0,0069</a:t>
                      </a:r>
                      <a:endParaRPr lang="hr-HR" sz="105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0,0069</a:t>
                      </a:r>
                      <a:endParaRPr lang="hr-HR" sz="105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0,0064</a:t>
                      </a:r>
                      <a:endParaRPr lang="hr-HR" sz="105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0,0083</a:t>
                      </a:r>
                      <a:endParaRPr lang="hr-HR" sz="105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2684039897"/>
                  </a:ext>
                </a:extLst>
              </a:tr>
              <a:tr h="223018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>
                          <a:effectLst/>
                        </a:rPr>
                        <a:t>70</a:t>
                      </a:r>
                      <a:endParaRPr lang="hr-HR" sz="105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956" marR="3295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0,0077</a:t>
                      </a:r>
                      <a:endParaRPr lang="hr-HR" sz="105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0,0076</a:t>
                      </a:r>
                      <a:endParaRPr lang="hr-HR" sz="105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0,0078</a:t>
                      </a:r>
                      <a:endParaRPr lang="hr-HR" sz="105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0,0099</a:t>
                      </a:r>
                      <a:endParaRPr lang="hr-HR" sz="105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2495689468"/>
                  </a:ext>
                </a:extLst>
              </a:tr>
              <a:tr h="223018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>
                          <a:effectLst/>
                        </a:rPr>
                        <a:t>75</a:t>
                      </a:r>
                      <a:endParaRPr lang="hr-HR" sz="105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956" marR="3295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0,0078</a:t>
                      </a:r>
                      <a:endParaRPr lang="hr-HR" sz="105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0,0080</a:t>
                      </a:r>
                      <a:endParaRPr lang="hr-HR" sz="105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0,0086</a:t>
                      </a:r>
                      <a:endParaRPr lang="hr-HR" sz="105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0,0109</a:t>
                      </a:r>
                      <a:endParaRPr lang="hr-HR" sz="105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2353969535"/>
                  </a:ext>
                </a:extLst>
              </a:tr>
              <a:tr h="223018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>
                          <a:effectLst/>
                        </a:rPr>
                        <a:t>80</a:t>
                      </a:r>
                      <a:endParaRPr lang="hr-HR" sz="105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956" marR="3295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0,0084</a:t>
                      </a:r>
                      <a:endParaRPr lang="hr-HR" sz="105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0,0099</a:t>
                      </a:r>
                      <a:endParaRPr lang="hr-HR" sz="105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0,0106</a:t>
                      </a:r>
                      <a:endParaRPr lang="hr-HR" sz="105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0,0092</a:t>
                      </a:r>
                      <a:endParaRPr lang="hr-HR" sz="105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2415515641"/>
                  </a:ext>
                </a:extLst>
              </a:tr>
              <a:tr h="223018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>
                          <a:effectLst/>
                        </a:rPr>
                        <a:t>85</a:t>
                      </a:r>
                      <a:endParaRPr lang="hr-HR" sz="105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956" marR="3295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0,0089</a:t>
                      </a:r>
                      <a:endParaRPr lang="hr-HR" sz="105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0,0106</a:t>
                      </a:r>
                      <a:endParaRPr lang="hr-HR" sz="105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0,0096</a:t>
                      </a:r>
                      <a:endParaRPr lang="hr-HR" sz="105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0,0089</a:t>
                      </a:r>
                      <a:endParaRPr lang="hr-HR" sz="105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1714916586"/>
                  </a:ext>
                </a:extLst>
              </a:tr>
              <a:tr h="223018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>
                          <a:effectLst/>
                        </a:rPr>
                        <a:t>90</a:t>
                      </a:r>
                      <a:endParaRPr lang="hr-HR" sz="105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956" marR="3295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0,0097</a:t>
                      </a:r>
                      <a:endParaRPr lang="hr-HR" sz="105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0,0088</a:t>
                      </a:r>
                      <a:endParaRPr lang="hr-HR" sz="105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0,0107</a:t>
                      </a:r>
                      <a:endParaRPr lang="hr-HR" sz="105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0,0094</a:t>
                      </a:r>
                      <a:endParaRPr lang="hr-HR" sz="105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3969983236"/>
                  </a:ext>
                </a:extLst>
              </a:tr>
              <a:tr h="223018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>
                          <a:effectLst/>
                        </a:rPr>
                        <a:t>95</a:t>
                      </a:r>
                      <a:endParaRPr lang="hr-HR" sz="105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956" marR="3295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0,0104</a:t>
                      </a:r>
                      <a:endParaRPr lang="hr-HR" sz="105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0,0105</a:t>
                      </a:r>
                      <a:endParaRPr lang="hr-HR" sz="105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0,0124</a:t>
                      </a:r>
                      <a:endParaRPr lang="hr-HR" sz="105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0,0115</a:t>
                      </a:r>
                      <a:endParaRPr lang="hr-HR" sz="105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3109516572"/>
                  </a:ext>
                </a:extLst>
              </a:tr>
              <a:tr h="223018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 dirty="0">
                          <a:effectLst/>
                        </a:rPr>
                        <a:t>100</a:t>
                      </a:r>
                      <a:endParaRPr lang="hr-HR" sz="105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956" marR="3295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0,0114</a:t>
                      </a:r>
                      <a:endParaRPr lang="hr-HR" sz="105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0,0120</a:t>
                      </a:r>
                      <a:endParaRPr lang="hr-HR" sz="105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0,0119</a:t>
                      </a:r>
                      <a:endParaRPr lang="hr-HR" sz="105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0,0119</a:t>
                      </a:r>
                      <a:endParaRPr lang="hr-HR" sz="105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4194836338"/>
                  </a:ext>
                </a:extLst>
              </a:tr>
            </a:tbl>
          </a:graphicData>
        </a:graphic>
      </p:graphicFrame>
      <p:graphicFrame>
        <p:nvGraphicFramePr>
          <p:cNvPr id="5" name="Grafikon 4">
            <a:extLst>
              <a:ext uri="{FF2B5EF4-FFF2-40B4-BE49-F238E27FC236}">
                <a16:creationId xmlns:a16="http://schemas.microsoft.com/office/drawing/2014/main" id="{3FBBC210-2A50-DB93-AE05-2310E3C5F41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82363364"/>
              </p:ext>
            </p:extLst>
          </p:nvPr>
        </p:nvGraphicFramePr>
        <p:xfrm>
          <a:off x="4616389" y="1961965"/>
          <a:ext cx="5397622" cy="320483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4899278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57C15FE0-C403-1685-A37F-EC1598AE6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228410"/>
            <a:ext cx="8596668" cy="775317"/>
          </a:xfrm>
        </p:spPr>
        <p:txBody>
          <a:bodyPr/>
          <a:lstStyle/>
          <a:p>
            <a:r>
              <a:rPr lang="hr-HR" dirty="0">
                <a:solidFill>
                  <a:srgbClr val="002060"/>
                </a:solidFill>
              </a:rPr>
              <a:t>A = {‘a’, ‘b’,…, ‘z’}</a:t>
            </a:r>
          </a:p>
        </p:txBody>
      </p:sp>
      <p:graphicFrame>
        <p:nvGraphicFramePr>
          <p:cNvPr id="7" name="Tablica 6">
            <a:extLst>
              <a:ext uri="{FF2B5EF4-FFF2-40B4-BE49-F238E27FC236}">
                <a16:creationId xmlns:a16="http://schemas.microsoft.com/office/drawing/2014/main" id="{BDA55666-2A0E-E6EC-7691-B87A922BC6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6729076"/>
              </p:ext>
            </p:extLst>
          </p:nvPr>
        </p:nvGraphicFramePr>
        <p:xfrm>
          <a:off x="677334" y="1154097"/>
          <a:ext cx="3550055" cy="525844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689827">
                  <a:extLst>
                    <a:ext uri="{9D8B030D-6E8A-4147-A177-3AD203B41FA5}">
                      <a16:colId xmlns:a16="http://schemas.microsoft.com/office/drawing/2014/main" val="921203692"/>
                    </a:ext>
                  </a:extLst>
                </a:gridCol>
                <a:gridCol w="715077">
                  <a:extLst>
                    <a:ext uri="{9D8B030D-6E8A-4147-A177-3AD203B41FA5}">
                      <a16:colId xmlns:a16="http://schemas.microsoft.com/office/drawing/2014/main" val="37451153"/>
                    </a:ext>
                  </a:extLst>
                </a:gridCol>
                <a:gridCol w="715050">
                  <a:extLst>
                    <a:ext uri="{9D8B030D-6E8A-4147-A177-3AD203B41FA5}">
                      <a16:colId xmlns:a16="http://schemas.microsoft.com/office/drawing/2014/main" val="196386946"/>
                    </a:ext>
                  </a:extLst>
                </a:gridCol>
                <a:gridCol w="643545">
                  <a:extLst>
                    <a:ext uri="{9D8B030D-6E8A-4147-A177-3AD203B41FA5}">
                      <a16:colId xmlns:a16="http://schemas.microsoft.com/office/drawing/2014/main" val="934964582"/>
                    </a:ext>
                  </a:extLst>
                </a:gridCol>
                <a:gridCol w="786556">
                  <a:extLst>
                    <a:ext uri="{9D8B030D-6E8A-4147-A177-3AD203B41FA5}">
                      <a16:colId xmlns:a16="http://schemas.microsoft.com/office/drawing/2014/main" val="2194052100"/>
                    </a:ext>
                  </a:extLst>
                </a:gridCol>
              </a:tblGrid>
              <a:tr h="247103">
                <a:tc row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 dirty="0">
                          <a:effectLst/>
                        </a:rPr>
                        <a:t>duljina teksta (u tisućama)</a:t>
                      </a:r>
                      <a:endParaRPr lang="hr-HR" sz="105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956" marR="32956" marT="0" marB="0" anchor="ctr"/>
                </a:tc>
                <a:tc gridSpan="4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00" b="1">
                          <a:effectLst/>
                        </a:rPr>
                        <a:t>duljina uzorka</a:t>
                      </a:r>
                      <a:endParaRPr lang="hr-HR" sz="10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956" marR="32956" marT="0" marB="0" anchor="ctr"/>
                </a:tc>
                <a:tc hMerge="1">
                  <a:txBody>
                    <a:bodyPr/>
                    <a:lstStyle/>
                    <a:p>
                      <a:endParaRPr lang="hr-H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hr-H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hr-H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4794"/>
                  </a:ext>
                </a:extLst>
              </a:tr>
              <a:tr h="327968">
                <a:tc vMerge="1">
                  <a:txBody>
                    <a:bodyPr/>
                    <a:lstStyle/>
                    <a:p>
                      <a:endParaRPr lang="hr-H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 dirty="0">
                          <a:effectLst/>
                        </a:rPr>
                        <a:t>10</a:t>
                      </a:r>
                      <a:endParaRPr lang="hr-HR" sz="105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956" marR="32956" marT="0" marB="0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 dirty="0">
                          <a:effectLst/>
                        </a:rPr>
                        <a:t>20</a:t>
                      </a:r>
                      <a:endParaRPr lang="hr-HR" sz="105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956" marR="32956" marT="0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 dirty="0">
                          <a:effectLst/>
                        </a:rPr>
                        <a:t>50</a:t>
                      </a:r>
                      <a:endParaRPr lang="hr-HR" sz="105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956" marR="32956" marT="0" marB="0"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 dirty="0">
                          <a:effectLst/>
                        </a:rPr>
                        <a:t>100</a:t>
                      </a:r>
                      <a:endParaRPr lang="hr-HR" sz="105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956" marR="32956" marT="0" marB="0"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3570405"/>
                  </a:ext>
                </a:extLst>
              </a:tr>
              <a:tr h="223018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 dirty="0">
                          <a:effectLst/>
                        </a:rPr>
                        <a:t>1</a:t>
                      </a:r>
                      <a:endParaRPr lang="hr-HR" sz="105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956" marR="3295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0,0000</a:t>
                      </a:r>
                      <a:endParaRPr lang="hr-HR" sz="105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0,0000</a:t>
                      </a:r>
                      <a:endParaRPr lang="hr-HR" sz="105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0,0001</a:t>
                      </a:r>
                      <a:endParaRPr lang="hr-HR" sz="105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0,0001</a:t>
                      </a:r>
                      <a:endParaRPr lang="hr-HR" sz="105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685436841"/>
                  </a:ext>
                </a:extLst>
              </a:tr>
              <a:tr h="223018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>
                          <a:effectLst/>
                        </a:rPr>
                        <a:t>5</a:t>
                      </a:r>
                      <a:endParaRPr lang="hr-HR" sz="105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956" marR="3295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0,0001</a:t>
                      </a:r>
                      <a:endParaRPr lang="hr-HR" sz="105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0,0002</a:t>
                      </a:r>
                      <a:endParaRPr lang="hr-HR" sz="105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0,0003</a:t>
                      </a:r>
                      <a:endParaRPr lang="hr-HR" sz="105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0,0003</a:t>
                      </a:r>
                      <a:endParaRPr lang="hr-HR" sz="105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7866221"/>
                  </a:ext>
                </a:extLst>
              </a:tr>
              <a:tr h="223018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>
                          <a:effectLst/>
                        </a:rPr>
                        <a:t>10</a:t>
                      </a:r>
                      <a:endParaRPr lang="hr-HR" sz="105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956" marR="3295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0,0003</a:t>
                      </a:r>
                      <a:endParaRPr lang="hr-HR" sz="105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0,0006</a:t>
                      </a:r>
                      <a:endParaRPr lang="hr-HR" sz="105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0,0003</a:t>
                      </a:r>
                      <a:endParaRPr lang="hr-HR" sz="105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0,0001</a:t>
                      </a:r>
                      <a:endParaRPr lang="hr-HR" sz="105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3570007427"/>
                  </a:ext>
                </a:extLst>
              </a:tr>
              <a:tr h="223018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>
                          <a:effectLst/>
                        </a:rPr>
                        <a:t>15</a:t>
                      </a:r>
                      <a:endParaRPr lang="hr-HR" sz="105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956" marR="3295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0,0005</a:t>
                      </a:r>
                      <a:endParaRPr lang="hr-HR" sz="105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0,0007</a:t>
                      </a:r>
                      <a:endParaRPr lang="hr-HR" sz="105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0,0008</a:t>
                      </a:r>
                      <a:endParaRPr lang="hr-HR" sz="105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0,0007</a:t>
                      </a:r>
                      <a:endParaRPr lang="hr-HR" sz="105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26751110"/>
                  </a:ext>
                </a:extLst>
              </a:tr>
              <a:tr h="223018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>
                          <a:effectLst/>
                        </a:rPr>
                        <a:t>20</a:t>
                      </a:r>
                      <a:endParaRPr lang="hr-HR" sz="105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956" marR="3295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0,0004</a:t>
                      </a:r>
                      <a:endParaRPr lang="hr-HR" sz="105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0,0009</a:t>
                      </a:r>
                      <a:endParaRPr lang="hr-HR" sz="105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0,0010</a:t>
                      </a:r>
                      <a:endParaRPr lang="hr-HR" sz="105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0,0013</a:t>
                      </a:r>
                      <a:endParaRPr lang="hr-HR" sz="105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3934203476"/>
                  </a:ext>
                </a:extLst>
              </a:tr>
              <a:tr h="223018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>
                          <a:effectLst/>
                        </a:rPr>
                        <a:t>25</a:t>
                      </a:r>
                      <a:endParaRPr lang="hr-HR" sz="105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956" marR="3295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0,0006</a:t>
                      </a:r>
                      <a:endParaRPr lang="hr-HR" sz="105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0,0010</a:t>
                      </a:r>
                      <a:endParaRPr lang="hr-HR" sz="105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0,0010</a:t>
                      </a:r>
                      <a:endParaRPr lang="hr-HR" sz="105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0,0011</a:t>
                      </a:r>
                      <a:endParaRPr lang="hr-HR" sz="105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3429233212"/>
                  </a:ext>
                </a:extLst>
              </a:tr>
              <a:tr h="223018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>
                          <a:effectLst/>
                        </a:rPr>
                        <a:t>30</a:t>
                      </a:r>
                      <a:endParaRPr lang="hr-HR" sz="105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956" marR="3295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0,0008</a:t>
                      </a:r>
                      <a:endParaRPr lang="hr-HR" sz="105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0,0012</a:t>
                      </a:r>
                      <a:endParaRPr lang="hr-HR" sz="105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0,0012</a:t>
                      </a:r>
                      <a:endParaRPr lang="hr-HR" sz="105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0,0013</a:t>
                      </a:r>
                      <a:endParaRPr lang="hr-HR" sz="105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2734691688"/>
                  </a:ext>
                </a:extLst>
              </a:tr>
              <a:tr h="223018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>
                          <a:effectLst/>
                        </a:rPr>
                        <a:t>35</a:t>
                      </a:r>
                      <a:endParaRPr lang="hr-HR" sz="105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956" marR="3295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0,0010</a:t>
                      </a:r>
                      <a:endParaRPr lang="hr-HR" sz="105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0,0015</a:t>
                      </a:r>
                      <a:endParaRPr lang="hr-HR" sz="105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0,0011</a:t>
                      </a:r>
                      <a:endParaRPr lang="hr-HR" sz="105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0,0018</a:t>
                      </a:r>
                      <a:endParaRPr lang="hr-HR" sz="105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4024205820"/>
                  </a:ext>
                </a:extLst>
              </a:tr>
              <a:tr h="223018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>
                          <a:effectLst/>
                        </a:rPr>
                        <a:t>40</a:t>
                      </a:r>
                      <a:endParaRPr lang="hr-HR" sz="105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956" marR="3295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0,0011</a:t>
                      </a:r>
                      <a:endParaRPr lang="hr-HR" sz="105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0,0017</a:t>
                      </a:r>
                      <a:endParaRPr lang="hr-HR" sz="105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0,0017</a:t>
                      </a:r>
                      <a:endParaRPr lang="hr-HR" sz="105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0,0016</a:t>
                      </a:r>
                      <a:endParaRPr lang="hr-HR" sz="105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2392062908"/>
                  </a:ext>
                </a:extLst>
              </a:tr>
              <a:tr h="223018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>
                          <a:effectLst/>
                        </a:rPr>
                        <a:t>45</a:t>
                      </a:r>
                      <a:endParaRPr lang="hr-HR" sz="105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956" marR="3295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0,0011</a:t>
                      </a:r>
                      <a:endParaRPr lang="hr-HR" sz="105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0,0018</a:t>
                      </a:r>
                      <a:endParaRPr lang="hr-HR" sz="105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0,0019</a:t>
                      </a:r>
                      <a:endParaRPr lang="hr-HR" sz="105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0,0020</a:t>
                      </a:r>
                      <a:endParaRPr lang="hr-HR" sz="105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3261489253"/>
                  </a:ext>
                </a:extLst>
              </a:tr>
              <a:tr h="223018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>
                          <a:effectLst/>
                        </a:rPr>
                        <a:t>50</a:t>
                      </a:r>
                      <a:endParaRPr lang="hr-HR" sz="105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956" marR="3295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0,0014</a:t>
                      </a:r>
                      <a:endParaRPr lang="hr-HR" sz="105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0,0020</a:t>
                      </a:r>
                      <a:endParaRPr lang="hr-HR" sz="105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0,0020</a:t>
                      </a:r>
                      <a:endParaRPr lang="hr-HR" sz="105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0,0020</a:t>
                      </a:r>
                      <a:endParaRPr lang="hr-HR" sz="105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1358650780"/>
                  </a:ext>
                </a:extLst>
              </a:tr>
              <a:tr h="223018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>
                          <a:effectLst/>
                        </a:rPr>
                        <a:t>55</a:t>
                      </a:r>
                      <a:endParaRPr lang="hr-HR" sz="105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956" marR="3295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0,0015</a:t>
                      </a:r>
                      <a:endParaRPr lang="hr-HR" sz="105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0,0023</a:t>
                      </a:r>
                      <a:endParaRPr lang="hr-HR" sz="105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0,0022</a:t>
                      </a:r>
                      <a:endParaRPr lang="hr-HR" sz="105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0,0022</a:t>
                      </a:r>
                      <a:endParaRPr lang="hr-HR" sz="105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1833902708"/>
                  </a:ext>
                </a:extLst>
              </a:tr>
              <a:tr h="223018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>
                          <a:effectLst/>
                        </a:rPr>
                        <a:t>60</a:t>
                      </a:r>
                      <a:endParaRPr lang="hr-HR" sz="105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956" marR="3295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0,0013</a:t>
                      </a:r>
                      <a:endParaRPr lang="hr-HR" sz="105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0,0027</a:t>
                      </a:r>
                      <a:endParaRPr lang="hr-HR" sz="105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0,0022</a:t>
                      </a:r>
                      <a:endParaRPr lang="hr-HR" sz="105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0,0023</a:t>
                      </a:r>
                      <a:endParaRPr lang="hr-HR" sz="105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1927550125"/>
                  </a:ext>
                </a:extLst>
              </a:tr>
              <a:tr h="223018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>
                          <a:effectLst/>
                        </a:rPr>
                        <a:t>65</a:t>
                      </a:r>
                      <a:endParaRPr lang="hr-HR" sz="105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956" marR="3295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0,0015</a:t>
                      </a:r>
                      <a:endParaRPr lang="hr-HR" sz="105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0,0028</a:t>
                      </a:r>
                      <a:endParaRPr lang="hr-HR" sz="105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0,0026</a:t>
                      </a:r>
                      <a:endParaRPr lang="hr-HR" sz="105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0,0030</a:t>
                      </a:r>
                      <a:endParaRPr lang="hr-HR" sz="105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2684039897"/>
                  </a:ext>
                </a:extLst>
              </a:tr>
              <a:tr h="223018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>
                          <a:effectLst/>
                        </a:rPr>
                        <a:t>70</a:t>
                      </a:r>
                      <a:endParaRPr lang="hr-HR" sz="105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956" marR="3295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0,0019</a:t>
                      </a:r>
                      <a:endParaRPr lang="hr-HR" sz="105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0,0026</a:t>
                      </a:r>
                      <a:endParaRPr lang="hr-HR" sz="105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0,0028</a:t>
                      </a:r>
                      <a:endParaRPr lang="hr-HR" sz="105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0,0030</a:t>
                      </a:r>
                      <a:endParaRPr lang="hr-HR" sz="105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2495689468"/>
                  </a:ext>
                </a:extLst>
              </a:tr>
              <a:tr h="223018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>
                          <a:effectLst/>
                        </a:rPr>
                        <a:t>75</a:t>
                      </a:r>
                      <a:endParaRPr lang="hr-HR" sz="105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956" marR="3295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0,0021</a:t>
                      </a:r>
                      <a:endParaRPr lang="hr-HR" sz="105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0,0030</a:t>
                      </a:r>
                      <a:endParaRPr lang="hr-HR" sz="105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0,0030</a:t>
                      </a:r>
                      <a:endParaRPr lang="hr-HR" sz="105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0,0035</a:t>
                      </a:r>
                      <a:endParaRPr lang="hr-HR" sz="105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2353969535"/>
                  </a:ext>
                </a:extLst>
              </a:tr>
              <a:tr h="223018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>
                          <a:effectLst/>
                        </a:rPr>
                        <a:t>80</a:t>
                      </a:r>
                      <a:endParaRPr lang="hr-HR" sz="105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956" marR="3295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0,0020</a:t>
                      </a:r>
                      <a:endParaRPr lang="hr-HR" sz="105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0,0035</a:t>
                      </a:r>
                      <a:endParaRPr lang="hr-HR" sz="105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0,0034</a:t>
                      </a:r>
                      <a:endParaRPr lang="hr-HR" sz="105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0,0033</a:t>
                      </a:r>
                      <a:endParaRPr lang="hr-HR" sz="105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2415515641"/>
                  </a:ext>
                </a:extLst>
              </a:tr>
              <a:tr h="223018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>
                          <a:effectLst/>
                        </a:rPr>
                        <a:t>85</a:t>
                      </a:r>
                      <a:endParaRPr lang="hr-HR" sz="105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956" marR="3295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0,0022</a:t>
                      </a:r>
                      <a:endParaRPr lang="hr-HR" sz="105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0,0039</a:t>
                      </a:r>
                      <a:endParaRPr lang="hr-HR" sz="105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0,0035</a:t>
                      </a:r>
                      <a:endParaRPr lang="hr-HR" sz="105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0,0037</a:t>
                      </a:r>
                      <a:endParaRPr lang="hr-HR" sz="105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1714916586"/>
                  </a:ext>
                </a:extLst>
              </a:tr>
              <a:tr h="223018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>
                          <a:effectLst/>
                        </a:rPr>
                        <a:t>90</a:t>
                      </a:r>
                      <a:endParaRPr lang="hr-HR" sz="105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956" marR="3295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0,0021</a:t>
                      </a:r>
                      <a:endParaRPr lang="hr-HR" sz="105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0,0034</a:t>
                      </a:r>
                      <a:endParaRPr lang="hr-HR" sz="105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0,0038</a:t>
                      </a:r>
                      <a:endParaRPr lang="hr-HR" sz="105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0,0045</a:t>
                      </a:r>
                      <a:endParaRPr lang="hr-HR" sz="105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3969983236"/>
                  </a:ext>
                </a:extLst>
              </a:tr>
              <a:tr h="223018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>
                          <a:effectLst/>
                        </a:rPr>
                        <a:t>95</a:t>
                      </a:r>
                      <a:endParaRPr lang="hr-HR" sz="105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956" marR="3295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0,0024</a:t>
                      </a:r>
                      <a:endParaRPr lang="hr-HR" sz="105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0,0034</a:t>
                      </a:r>
                      <a:endParaRPr lang="hr-HR" sz="105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0,0046</a:t>
                      </a:r>
                      <a:endParaRPr lang="hr-HR" sz="105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0,0041</a:t>
                      </a:r>
                      <a:endParaRPr lang="hr-HR" sz="105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3109516572"/>
                  </a:ext>
                </a:extLst>
              </a:tr>
              <a:tr h="223018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 dirty="0">
                          <a:effectLst/>
                        </a:rPr>
                        <a:t>100</a:t>
                      </a:r>
                      <a:endParaRPr lang="hr-HR" sz="105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956" marR="3295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0,0023</a:t>
                      </a:r>
                      <a:endParaRPr lang="hr-HR" sz="105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0,0034</a:t>
                      </a:r>
                      <a:endParaRPr lang="hr-HR" sz="105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0,0048</a:t>
                      </a:r>
                      <a:endParaRPr lang="hr-HR" sz="105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hr-HR" sz="1050" b="1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0,0043</a:t>
                      </a:r>
                      <a:endParaRPr lang="hr-HR" sz="105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4194836338"/>
                  </a:ext>
                </a:extLst>
              </a:tr>
            </a:tbl>
          </a:graphicData>
        </a:graphic>
      </p:graphicFrame>
      <p:graphicFrame>
        <p:nvGraphicFramePr>
          <p:cNvPr id="3" name="Grafikon 2">
            <a:extLst>
              <a:ext uri="{FF2B5EF4-FFF2-40B4-BE49-F238E27FC236}">
                <a16:creationId xmlns:a16="http://schemas.microsoft.com/office/drawing/2014/main" id="{E86F0A8A-9F8B-665E-8774-596477BD292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32730080"/>
              </p:ext>
            </p:extLst>
          </p:nvPr>
        </p:nvGraphicFramePr>
        <p:xfrm>
          <a:off x="4383796" y="2006169"/>
          <a:ext cx="5621338" cy="355430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9584130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E288EF39-5A26-D643-3578-B6CDB6A3C0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>
                <a:solidFill>
                  <a:srgbClr val="002060"/>
                </a:solidFill>
              </a:rPr>
              <a:t>Literatura</a:t>
            </a:r>
          </a:p>
        </p:txBody>
      </p:sp>
      <p:sp>
        <p:nvSpPr>
          <p:cNvPr id="5" name="Rezervirano mjesto sadržaja 4">
            <a:extLst>
              <a:ext uri="{FF2B5EF4-FFF2-40B4-BE49-F238E27FC236}">
                <a16:creationId xmlns:a16="http://schemas.microsoft.com/office/drawing/2014/main" id="{D80AB49F-7307-6C3C-3508-2C7617E0A8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8892794" cy="3880773"/>
          </a:xfrm>
        </p:spPr>
        <p:txBody>
          <a:bodyPr/>
          <a:lstStyle/>
          <a:p>
            <a:r>
              <a:rPr lang="hr-HR" sz="1800" dirty="0" err="1">
                <a:solidFill>
                  <a:srgbClr val="002060"/>
                </a:solidFill>
                <a:effectLst/>
                <a:latin typeface="Times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Cormen</a:t>
            </a:r>
            <a:r>
              <a:rPr lang="hr-HR" sz="1800" dirty="0">
                <a:solidFill>
                  <a:srgbClr val="002060"/>
                </a:solidFill>
                <a:effectLst/>
                <a:latin typeface="Times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Thomas H.; </a:t>
            </a:r>
            <a:r>
              <a:rPr lang="hr-HR" sz="1800" dirty="0" err="1">
                <a:solidFill>
                  <a:srgbClr val="002060"/>
                </a:solidFill>
                <a:effectLst/>
                <a:latin typeface="Times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Leiserson</a:t>
            </a:r>
            <a:r>
              <a:rPr lang="hr-HR" sz="1800" dirty="0">
                <a:solidFill>
                  <a:srgbClr val="002060"/>
                </a:solidFill>
                <a:effectLst/>
                <a:latin typeface="Times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Charles E.; </a:t>
            </a:r>
            <a:r>
              <a:rPr lang="hr-HR" sz="1800" dirty="0" err="1">
                <a:solidFill>
                  <a:srgbClr val="002060"/>
                </a:solidFill>
                <a:effectLst/>
                <a:latin typeface="Times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Rivest</a:t>
            </a:r>
            <a:r>
              <a:rPr lang="hr-HR" sz="1800" dirty="0">
                <a:solidFill>
                  <a:srgbClr val="002060"/>
                </a:solidFill>
                <a:effectLst/>
                <a:latin typeface="Times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Ronald L.; Stein, Clifford (2022).: </a:t>
            </a:r>
            <a:r>
              <a:rPr lang="hr-HR" sz="1800" dirty="0" err="1">
                <a:solidFill>
                  <a:srgbClr val="002060"/>
                </a:solidFill>
                <a:effectLst/>
                <a:latin typeface="Times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Introduction</a:t>
            </a:r>
            <a:r>
              <a:rPr lang="hr-HR" sz="1800" dirty="0">
                <a:solidFill>
                  <a:srgbClr val="002060"/>
                </a:solidFill>
                <a:effectLst/>
                <a:latin typeface="Times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to </a:t>
            </a:r>
            <a:r>
              <a:rPr lang="hr-HR" sz="1800" dirty="0" err="1">
                <a:solidFill>
                  <a:srgbClr val="002060"/>
                </a:solidFill>
                <a:effectLst/>
                <a:latin typeface="Times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Algorithms</a:t>
            </a:r>
            <a:r>
              <a:rPr lang="hr-HR" sz="1800" dirty="0">
                <a:solidFill>
                  <a:srgbClr val="002060"/>
                </a:solidFill>
                <a:effectLst/>
                <a:latin typeface="Times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(4th </a:t>
            </a:r>
            <a:r>
              <a:rPr lang="hr-HR" sz="1800" dirty="0" err="1">
                <a:solidFill>
                  <a:srgbClr val="002060"/>
                </a:solidFill>
                <a:effectLst/>
                <a:latin typeface="Times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ed</a:t>
            </a:r>
            <a:r>
              <a:rPr lang="hr-HR" sz="1800" dirty="0">
                <a:solidFill>
                  <a:srgbClr val="002060"/>
                </a:solidFill>
                <a:effectLst/>
                <a:latin typeface="Times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.). MIT Press and </a:t>
            </a:r>
            <a:r>
              <a:rPr lang="hr-HR" sz="1800" dirty="0" err="1">
                <a:solidFill>
                  <a:srgbClr val="002060"/>
                </a:solidFill>
                <a:effectLst/>
                <a:latin typeface="Times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McGraw</a:t>
            </a:r>
            <a:r>
              <a:rPr lang="hr-HR" sz="1800" dirty="0">
                <a:solidFill>
                  <a:srgbClr val="002060"/>
                </a:solidFill>
                <a:effectLst/>
                <a:latin typeface="Times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-Hill. ISBN 0-262-04630-X</a:t>
            </a:r>
            <a:endParaRPr lang="hr-HR" sz="1800" dirty="0">
              <a:solidFill>
                <a:srgbClr val="00206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hr-HR" dirty="0">
                <a:hlinkClick r:id="rId2"/>
              </a:rPr>
              <a:t>Introduction.to.Algorithms.4th.Leiserson.Stein.Rivest.Cormen.MIT.Press.9780262046305.EBooksWorld.ir.pdf</a:t>
            </a:r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17950758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0A5E2831-8043-0A9C-1BE7-C9EBBEF41C3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r-HR" dirty="0">
                <a:solidFill>
                  <a:srgbClr val="002060"/>
                </a:solidFill>
              </a:rPr>
              <a:t>Hvala na pozornosti!</a:t>
            </a:r>
          </a:p>
        </p:txBody>
      </p:sp>
    </p:spTree>
    <p:extLst>
      <p:ext uri="{BB962C8B-B14F-4D97-AF65-F5344CB8AC3E}">
        <p14:creationId xmlns:p14="http://schemas.microsoft.com/office/powerpoint/2010/main" val="2923517180"/>
      </p:ext>
    </p:extLst>
  </p:cSld>
  <p:clrMapOvr>
    <a:masterClrMapping/>
  </p:clrMapOvr>
</p:sld>
</file>

<file path=ppt/theme/theme1.xml><?xml version="1.0" encoding="utf-8"?>
<a:theme xmlns:a="http://schemas.openxmlformats.org/drawingml/2006/main" name="Faseta">
  <a:themeElements>
    <a:clrScheme name="Faseta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seta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set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544</TotalTime>
  <Words>1097</Words>
  <Application>Microsoft Office PowerPoint</Application>
  <PresentationFormat>Široki zaslon</PresentationFormat>
  <Paragraphs>416</Paragraphs>
  <Slides>19</Slides>
  <Notes>0</Notes>
  <HiddenSlides>0</HiddenSlides>
  <MMClips>0</MMClips>
  <ScaleCrop>false</ScaleCrop>
  <HeadingPairs>
    <vt:vector size="6" baseType="variant">
      <vt:variant>
        <vt:lpstr>Korišteni fontovi</vt:lpstr>
      </vt:variant>
      <vt:variant>
        <vt:i4>7</vt:i4>
      </vt:variant>
      <vt:variant>
        <vt:lpstr>Tema</vt:lpstr>
      </vt:variant>
      <vt:variant>
        <vt:i4>1</vt:i4>
      </vt:variant>
      <vt:variant>
        <vt:lpstr>Naslovi slajdova</vt:lpstr>
      </vt:variant>
      <vt:variant>
        <vt:i4>19</vt:i4>
      </vt:variant>
    </vt:vector>
  </HeadingPairs>
  <TitlesOfParts>
    <vt:vector size="27" baseType="lpstr">
      <vt:lpstr>Arial</vt:lpstr>
      <vt:lpstr>Calibri</vt:lpstr>
      <vt:lpstr>Cambria Math</vt:lpstr>
      <vt:lpstr>Lucida Calligraphy</vt:lpstr>
      <vt:lpstr>Times</vt:lpstr>
      <vt:lpstr>Trebuchet MS</vt:lpstr>
      <vt:lpstr>Wingdings 3</vt:lpstr>
      <vt:lpstr>Faseta</vt:lpstr>
      <vt:lpstr>Knuth-Morris-Prattov algoritam</vt:lpstr>
      <vt:lpstr>Problem</vt:lpstr>
      <vt:lpstr>Ideja</vt:lpstr>
      <vt:lpstr>PowerPoint prezentacija</vt:lpstr>
      <vt:lpstr>Pretprocesiranje – pojmovi</vt:lpstr>
      <vt:lpstr>Pretprocesiranje – izgradnja lps polja</vt:lpstr>
      <vt:lpstr>Pretprocesiranje – izgradnja lps polja</vt:lpstr>
      <vt:lpstr>Pretprocesiranje – složenost</vt:lpstr>
      <vt:lpstr>Pretraživanje</vt:lpstr>
      <vt:lpstr>Pretraživanje - primjer</vt:lpstr>
      <vt:lpstr>Pretraživanje - primjer</vt:lpstr>
      <vt:lpstr>Pretraživanje – složenost</vt:lpstr>
      <vt:lpstr>Empirijska analiza</vt:lpstr>
      <vt:lpstr>Empirijska analiza</vt:lpstr>
      <vt:lpstr>A = {‘a’, ‘b’}</vt:lpstr>
      <vt:lpstr>A = {‘a’, ‘b’, ‘c’}</vt:lpstr>
      <vt:lpstr>A = {‘a’, ‘b’,…, ‘z’}</vt:lpstr>
      <vt:lpstr>Literatura</vt:lpstr>
      <vt:lpstr>Hvala na pozornosti!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Knuth-Morris-Prattov algoritam</dc:title>
  <dc:creator>Ivan Tomić</dc:creator>
  <cp:lastModifiedBy>Ivan Tomić</cp:lastModifiedBy>
  <cp:revision>5</cp:revision>
  <dcterms:created xsi:type="dcterms:W3CDTF">2024-12-16T07:45:12Z</dcterms:created>
  <dcterms:modified xsi:type="dcterms:W3CDTF">2024-12-16T23:38:12Z</dcterms:modified>
</cp:coreProperties>
</file>